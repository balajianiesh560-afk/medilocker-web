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640080"/>
            <a:ext cx="7772400" cy="731520"/>
          </a:xfrm>
          <a:prstGeom prst="rect">
            <a:avLst/>
          </a:prstGeom>
          <a:noFill/>
          <a:ln/>
        </p:spPr>
        <p:txBody>
          <a:bodyPr wrap="square" rtlCol="0" anchor="ctr"/>
          <a:lstStyle/>
          <a:p>
            <a:pPr indent="0" marL="0">
              <a:buNone/>
            </a:pPr>
            <a:r>
              <a:rPr lang="en-US" sz="2800" b="1" dirty="0">
                <a:solidFill>
                  <a:srgbClr val="1E3A8A"/>
                </a:solidFill>
                <a:latin typeface="Arial" pitchFamily="34" charset="0"/>
                <a:ea typeface="Arial" pitchFamily="34" charset="-122"/>
                <a:cs typeface="Arial" pitchFamily="34" charset="-120"/>
              </a:rPr>
              <a:t>SMART INDIA HACKATHON 2026</a:t>
            </a:r>
            <a:endParaRPr lang="en-US" sz="2800" dirty="0"/>
          </a:p>
        </p:txBody>
      </p:sp>
      <p:sp>
        <p:nvSpPr>
          <p:cNvPr id="3" name="Shape 1"/>
          <p:cNvSpPr/>
          <p:nvPr/>
        </p:nvSpPr>
        <p:spPr>
          <a:xfrm>
            <a:off x="9875520" y="457200"/>
            <a:ext cx="1828800" cy="914400"/>
          </a:xfrm>
          <a:prstGeom prst="rect">
            <a:avLst/>
          </a:prstGeom>
          <a:solidFill>
            <a:srgbClr val="F1F5F9"/>
          </a:solidFill>
          <a:ln w="12700">
            <a:solidFill>
              <a:srgbClr val="CBD5E1"/>
            </a:solidFill>
            <a:prstDash val="solid"/>
          </a:ln>
        </p:spPr>
      </p:sp>
      <p:sp>
        <p:nvSpPr>
          <p:cNvPr id="4" name="Text 2"/>
          <p:cNvSpPr/>
          <p:nvPr/>
        </p:nvSpPr>
        <p:spPr>
          <a:xfrm>
            <a:off x="9875520" y="457200"/>
            <a:ext cx="1828800" cy="914400"/>
          </a:xfrm>
          <a:prstGeom prst="rect">
            <a:avLst/>
          </a:prstGeom>
          <a:noFill/>
          <a:ln/>
        </p:spPr>
        <p:txBody>
          <a:bodyPr wrap="square" rtlCol="0" anchor="ctr"/>
          <a:lstStyle/>
          <a:p>
            <a:pPr algn="ctr" indent="0" marL="0">
              <a:buNone/>
            </a:pPr>
            <a:r>
              <a:rPr lang="en-US" sz="1100" b="1" dirty="0">
                <a:solidFill>
                  <a:srgbClr val="1E293B"/>
                </a:solidFill>
                <a:latin typeface="Arial" pitchFamily="34" charset="0"/>
                <a:ea typeface="Arial" pitchFamily="34" charset="-122"/>
                <a:cs typeface="Arial" pitchFamily="34" charset="-120"/>
              </a:rPr>
              <a:t>SMART INDIA</a:t>
            </a:r>
            <a:endParaRPr lang="en-US" sz="1100" dirty="0"/>
          </a:p>
          <a:p>
            <a:pPr algn="ctr" indent="0" marL="0">
              <a:buNone/>
            </a:pPr>
            <a:r>
              <a:rPr lang="en-US" sz="1100" b="1" dirty="0">
                <a:solidFill>
                  <a:srgbClr val="1E293B"/>
                </a:solidFill>
                <a:latin typeface="Arial" pitchFamily="34" charset="0"/>
                <a:ea typeface="Arial" pitchFamily="34" charset="-122"/>
                <a:cs typeface="Arial" pitchFamily="34" charset="-120"/>
              </a:rPr>
              <a:t>HACKATHON</a:t>
            </a:r>
            <a:endParaRPr lang="en-US" sz="1100" dirty="0"/>
          </a:p>
          <a:p>
            <a:pPr algn="ctr" indent="0" marL="0">
              <a:buNone/>
            </a:pPr>
            <a:r>
              <a:rPr lang="en-US" sz="1100" b="1" dirty="0">
                <a:solidFill>
                  <a:srgbClr val="1E293B"/>
                </a:solidFill>
                <a:latin typeface="Arial" pitchFamily="34" charset="0"/>
                <a:ea typeface="Arial" pitchFamily="34" charset="-122"/>
                <a:cs typeface="Arial" pitchFamily="34" charset="-120"/>
              </a:rPr>
              <a:t>2026</a:t>
            </a:r>
            <a:endParaRPr lang="en-US" sz="1100" dirty="0"/>
          </a:p>
        </p:txBody>
      </p:sp>
      <p:sp>
        <p:nvSpPr>
          <p:cNvPr id="5" name="Text 3"/>
          <p:cNvSpPr/>
          <p:nvPr/>
        </p:nvSpPr>
        <p:spPr>
          <a:xfrm>
            <a:off x="731520" y="1645920"/>
            <a:ext cx="6583680" cy="438912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 Problem Statement ID – </a:t>
            </a:r>
            <a:pPr indent="0" marL="0">
              <a:buNone/>
            </a:pPr>
            <a:r>
              <a:rPr lang="en-US" sz="1600" b="1" dirty="0">
                <a:solidFill>
                  <a:srgbClr val="0F766E"/>
                </a:solidFill>
                <a:latin typeface="Arial" pitchFamily="34" charset="0"/>
                <a:ea typeface="Arial" pitchFamily="34" charset="-122"/>
                <a:cs typeface="Arial" pitchFamily="34" charset="-120"/>
              </a:rPr>
              <a:t>SIH26047
</a:t>
            </a:r>
            <a:pPr indent="0" marL="0">
              <a:buNone/>
            </a:pPr>
            <a:r>
              <a:rPr lang="en-US" sz="1600" b="1" dirty="0">
                <a:solidFill>
                  <a:srgbClr val="0F172A"/>
                </a:solidFill>
                <a:latin typeface="Arial" pitchFamily="34" charset="0"/>
                <a:ea typeface="Arial" pitchFamily="34" charset="-122"/>
                <a:cs typeface="Arial" pitchFamily="34" charset="-120"/>
              </a:rPr>
              <a:t>• Problem Statement Title – </a:t>
            </a:r>
            <a:pPr indent="0" marL="0">
              <a:buNone/>
            </a:pPr>
            <a:r>
              <a:rPr lang="en-US" sz="1600" b="1" dirty="0">
                <a:solidFill>
                  <a:srgbClr val="1E3A8A"/>
                </a:solidFill>
                <a:latin typeface="Arial" pitchFamily="34" charset="0"/>
                <a:ea typeface="Arial" pitchFamily="34" charset="-122"/>
                <a:cs typeface="Arial" pitchFamily="34" charset="-120"/>
              </a:rPr>
              <a:t>PATIENT CASE-TAKING SOFTWARE
</a:t>
            </a:r>
            <a:pPr indent="0" marL="0">
              <a:buNone/>
            </a:pPr>
            <a:r>
              <a:rPr lang="en-US" sz="1600" b="1" dirty="0">
                <a:solidFill>
                  <a:srgbClr val="0F172A"/>
                </a:solidFill>
                <a:latin typeface="Arial" pitchFamily="34" charset="0"/>
                <a:ea typeface="Arial" pitchFamily="34" charset="-122"/>
                <a:cs typeface="Arial" pitchFamily="34" charset="-120"/>
              </a:rPr>
              <a:t>• Theme – </a:t>
            </a:r>
            <a:pPr indent="0" marL="0">
              <a:buNone/>
            </a:pPr>
            <a:r>
              <a:rPr lang="en-US" sz="1600" dirty="0">
                <a:solidFill>
                  <a:srgbClr val="334155"/>
                </a:solidFill>
                <a:latin typeface="Arial" pitchFamily="34" charset="0"/>
                <a:ea typeface="Arial" pitchFamily="34" charset="-122"/>
                <a:cs typeface="Arial" pitchFamily="34" charset="-120"/>
              </a:rPr>
              <a:t>MedTech / BioTech / HealthTech
</a:t>
            </a:r>
            <a:pPr indent="0" marL="0">
              <a:buNone/>
            </a:pPr>
            <a:r>
              <a:rPr lang="en-US" sz="1600" b="1" dirty="0">
                <a:solidFill>
                  <a:srgbClr val="0F172A"/>
                </a:solidFill>
                <a:latin typeface="Arial" pitchFamily="34" charset="0"/>
                <a:ea typeface="Arial" pitchFamily="34" charset="-122"/>
                <a:cs typeface="Arial" pitchFamily="34" charset="-120"/>
              </a:rPr>
              <a:t>• Sponsoring Ministry – </a:t>
            </a:r>
            <a:pPr indent="0" marL="0">
              <a:buNone/>
            </a:pPr>
            <a:r>
              <a:rPr lang="en-US" sz="1600" dirty="0">
                <a:solidFill>
                  <a:srgbClr val="334155"/>
                </a:solidFill>
                <a:latin typeface="Arial" pitchFamily="34" charset="0"/>
                <a:ea typeface="Arial" pitchFamily="34" charset="-122"/>
                <a:cs typeface="Arial" pitchFamily="34" charset="-120"/>
              </a:rPr>
              <a:t>Ministry of Ayush / All India Institute of Ayurveda
</a:t>
            </a:r>
            <a:pPr indent="0" marL="0">
              <a:buNone/>
            </a:pPr>
            <a:r>
              <a:rPr lang="en-US" sz="1600" b="1" dirty="0">
                <a:solidFill>
                  <a:srgbClr val="0F172A"/>
                </a:solidFill>
                <a:latin typeface="Arial" pitchFamily="34" charset="0"/>
                <a:ea typeface="Arial" pitchFamily="34" charset="-122"/>
                <a:cs typeface="Arial" pitchFamily="34" charset="-120"/>
              </a:rPr>
              <a:t>• PS Category – </a:t>
            </a:r>
            <a:pPr indent="0" marL="0">
              <a:buNone/>
            </a:pPr>
            <a:r>
              <a:rPr lang="en-US" sz="1600" dirty="0">
                <a:solidFill>
                  <a:srgbClr val="334155"/>
                </a:solidFill>
                <a:latin typeface="Arial" pitchFamily="34" charset="0"/>
                <a:ea typeface="Arial" pitchFamily="34" charset="-122"/>
                <a:cs typeface="Arial" pitchFamily="34" charset="-120"/>
              </a:rPr>
              <a:t>Software Edition
</a:t>
            </a:r>
            <a:pPr indent="0" marL="0">
              <a:buNone/>
            </a:pPr>
            <a:r>
              <a:rPr lang="en-US" sz="1600" b="1" dirty="0">
                <a:solidFill>
                  <a:srgbClr val="0F172A"/>
                </a:solidFill>
                <a:latin typeface="Arial" pitchFamily="34" charset="0"/>
                <a:ea typeface="Arial" pitchFamily="34" charset="-122"/>
                <a:cs typeface="Arial" pitchFamily="34" charset="-120"/>
              </a:rPr>
              <a:t>• Team ID – </a:t>
            </a:r>
            <a:pPr indent="0" marL="0">
              <a:buNone/>
            </a:pPr>
            <a:r>
              <a:rPr lang="en-US" sz="1600" b="1" dirty="0">
                <a:solidFill>
                  <a:srgbClr val="E11D48"/>
                </a:solidFill>
                <a:latin typeface="Arial" pitchFamily="34" charset="0"/>
                <a:ea typeface="Arial" pitchFamily="34" charset="-122"/>
                <a:cs typeface="Arial" pitchFamily="34" charset="-120"/>
              </a:rPr>
              <a:t>92770
</a:t>
            </a:r>
            <a:pPr indent="0" marL="0">
              <a:buNone/>
            </a:pPr>
            <a:r>
              <a:rPr lang="en-US" sz="1600" b="1" dirty="0">
                <a:solidFill>
                  <a:srgbClr val="0F172A"/>
                </a:solidFill>
                <a:latin typeface="Arial" pitchFamily="34" charset="0"/>
                <a:ea typeface="Arial" pitchFamily="34" charset="-122"/>
                <a:cs typeface="Arial" pitchFamily="34" charset="-120"/>
              </a:rPr>
              <a:t>• Team Name (Registered on portal) – </a:t>
            </a:r>
            <a:pPr indent="0" marL="0">
              <a:buNone/>
            </a:pPr>
            <a:r>
              <a:rPr lang="en-US" sz="1600" b="1" dirty="0">
                <a:solidFill>
                  <a:srgbClr val="0F172A"/>
                </a:solidFill>
                <a:latin typeface="Arial" pitchFamily="34" charset="0"/>
                <a:ea typeface="Arial" pitchFamily="34" charset="-122"/>
                <a:cs typeface="Arial" pitchFamily="34" charset="-120"/>
              </a:rPr>
              <a:t>404 The Optimists</a:t>
            </a:r>
            <a:endParaRPr lang="en-US" sz="1600" dirty="0"/>
          </a:p>
        </p:txBody>
      </p:sp>
      <p:sp>
        <p:nvSpPr>
          <p:cNvPr id="6" name="Shape 4"/>
          <p:cNvSpPr/>
          <p:nvPr/>
        </p:nvSpPr>
        <p:spPr>
          <a:xfrm>
            <a:off x="7680960" y="1645920"/>
            <a:ext cx="3931920" cy="4206240"/>
          </a:xfrm>
          <a:prstGeom prst="roundRect">
            <a:avLst/>
          </a:prstGeom>
          <a:solidFill>
            <a:srgbClr val="F8FAFC"/>
          </a:solidFill>
          <a:ln w="19050">
            <a:solidFill>
              <a:srgbClr val="E2E8F0"/>
            </a:solidFill>
            <a:prstDash val="solid"/>
          </a:ln>
        </p:spPr>
      </p:sp>
      <p:sp>
        <p:nvSpPr>
          <p:cNvPr id="7" name="Text 5"/>
          <p:cNvSpPr/>
          <p:nvPr/>
        </p:nvSpPr>
        <p:spPr>
          <a:xfrm>
            <a:off x="7863840" y="1920240"/>
            <a:ext cx="3566160" cy="457200"/>
          </a:xfrm>
          <a:prstGeom prst="rect">
            <a:avLst/>
          </a:prstGeom>
          <a:noFill/>
          <a:ln/>
        </p:spPr>
        <p:txBody>
          <a:bodyPr wrap="square" rtlCol="0" anchor="ctr"/>
          <a:lstStyle/>
          <a:p>
            <a:pPr algn="ctr" indent="0" marL="0">
              <a:buNone/>
            </a:pPr>
            <a:r>
              <a:rPr lang="en-US" sz="2000" b="1" dirty="0">
                <a:solidFill>
                  <a:srgbClr val="0F766E"/>
                </a:solidFill>
                <a:latin typeface="Arial" pitchFamily="34" charset="0"/>
                <a:ea typeface="Arial" pitchFamily="34" charset="-122"/>
                <a:cs typeface="Arial" pitchFamily="34" charset="-120"/>
              </a:rPr>
              <a:t>MEDIKIOSK AI</a:t>
            </a:r>
            <a:endParaRPr lang="en-US" sz="2000" dirty="0"/>
          </a:p>
        </p:txBody>
      </p:sp>
      <p:sp>
        <p:nvSpPr>
          <p:cNvPr id="8" name="Text 6"/>
          <p:cNvSpPr/>
          <p:nvPr/>
        </p:nvSpPr>
        <p:spPr>
          <a:xfrm>
            <a:off x="7863840" y="2468880"/>
            <a:ext cx="3566160" cy="640080"/>
          </a:xfrm>
          <a:prstGeom prst="rect">
            <a:avLst/>
          </a:prstGeom>
          <a:noFill/>
          <a:ln/>
        </p:spPr>
        <p:txBody>
          <a:bodyPr wrap="square" rtlCol="0" anchor="ctr"/>
          <a:lstStyle/>
          <a:p>
            <a:pPr algn="ctr" indent="0" marL="0">
              <a:buNone/>
            </a:pPr>
            <a:r>
              <a:rPr lang="en-US" sz="1200" dirty="0">
                <a:solidFill>
                  <a:srgbClr val="475569"/>
                </a:solidFill>
                <a:latin typeface="Arial" pitchFamily="34" charset="0"/>
                <a:ea typeface="Arial" pitchFamily="34" charset="-122"/>
                <a:cs typeface="Arial" pitchFamily="34" charset="-120"/>
              </a:rPr>
              <a:t>Next-Gen AI Patient Case-Taking &amp; Clinical Intake Platform for AYUSH &amp; Indian OPDs</a:t>
            </a:r>
            <a:endParaRPr lang="en-US" sz="1200" dirty="0"/>
          </a:p>
        </p:txBody>
      </p:sp>
      <p:sp>
        <p:nvSpPr>
          <p:cNvPr id="9" name="Text 7"/>
          <p:cNvSpPr/>
          <p:nvPr/>
        </p:nvSpPr>
        <p:spPr>
          <a:xfrm>
            <a:off x="8046720" y="3200400"/>
            <a:ext cx="3291840" cy="23774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Dual Voice (Bhashini) + Touch Screen
</a:t>
            </a:r>
            <a:pPr indent="0" marL="0">
              <a:buNone/>
            </a:pPr>
            <a:r>
              <a:rPr lang="en-US" sz="1100" b="1" dirty="0">
                <a:solidFill>
                  <a:srgbClr val="0F172A"/>
                </a:solidFill>
                <a:latin typeface="Arial" pitchFamily="34" charset="0"/>
                <a:ea typeface="Arial" pitchFamily="34" charset="-122"/>
                <a:cs typeface="Arial" pitchFamily="34" charset="-120"/>
              </a:rPr>
              <a:t>✓ AYUSH Dashavidha &amp; Ashtavidha Pariksha
</a:t>
            </a:r>
            <a:pPr indent="0" marL="0">
              <a:buNone/>
            </a:pPr>
            <a:r>
              <a:rPr lang="en-US" sz="1100" b="1" dirty="0">
                <a:solidFill>
                  <a:srgbClr val="0F172A"/>
                </a:solidFill>
                <a:latin typeface="Arial" pitchFamily="34" charset="0"/>
                <a:ea typeface="Arial" pitchFamily="34" charset="-122"/>
                <a:cs typeface="Arial" pitchFamily="34" charset="-120"/>
              </a:rPr>
              <a:t>✓ Multilingual OCR of Paper Prescriptions
</a:t>
            </a:r>
            <a:pPr indent="0" marL="0">
              <a:buNone/>
            </a:pPr>
            <a:r>
              <a:rPr lang="en-US" sz="1100" b="1" dirty="0">
                <a:solidFill>
                  <a:srgbClr val="0F172A"/>
                </a:solidFill>
                <a:latin typeface="Arial" pitchFamily="34" charset="0"/>
                <a:ea typeface="Arial" pitchFamily="34" charset="-122"/>
                <a:cs typeface="Arial" pitchFamily="34" charset="-120"/>
              </a:rPr>
              <a:t>✓ ABDM FHIR Interoperability &amp; ABHA ID
</a:t>
            </a:r>
            <a:pPr indent="0" marL="0">
              <a:buNone/>
            </a:pPr>
            <a:r>
              <a:rPr lang="en-US" sz="1100" b="1" dirty="0">
                <a:solidFill>
                  <a:srgbClr val="E11D48"/>
                </a:solidFill>
                <a:latin typeface="Arial" pitchFamily="34" charset="0"/>
                <a:ea typeface="Arial" pitchFamily="34" charset="-122"/>
                <a:cs typeface="Arial" pitchFamily="34" charset="-120"/>
              </a:rPr>
              <a:t>✓ Real-Time Emergency Red-Flag Triage
</a:t>
            </a:r>
            <a:endParaRPr lang="en-US" sz="1100" dirty="0"/>
          </a:p>
        </p:txBody>
      </p:sp>
      <p:sp>
        <p:nvSpPr>
          <p:cNvPr id="10" name="Text 8"/>
          <p:cNvSpPr/>
          <p:nvPr/>
        </p:nvSpPr>
        <p:spPr>
          <a:xfrm>
            <a:off x="11430000" y="6217920"/>
            <a:ext cx="457200" cy="274320"/>
          </a:xfrm>
          <a:prstGeom prst="rect">
            <a:avLst/>
          </a:prstGeom>
          <a:noFill/>
          <a:ln/>
        </p:spPr>
        <p:txBody>
          <a:bodyPr wrap="square" rtlCol="0" anchor="ctr"/>
          <a:lstStyle/>
          <a:p>
            <a:pPr algn="r" indent="0" marL="0">
              <a:buNone/>
            </a:pPr>
            <a:r>
              <a:rPr lang="en-US" sz="1200" dirty="0">
                <a:solidFill>
                  <a:srgbClr val="64748B"/>
                </a:solidFill>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0972800" cy="548640"/>
          </a:xfrm>
          <a:prstGeom prst="rect">
            <a:avLst/>
          </a:prstGeom>
          <a:noFill/>
          <a:ln/>
        </p:spPr>
        <p:txBody>
          <a:bodyPr wrap="square" rtlCol="0" anchor="ctr"/>
          <a:lstStyle/>
          <a:p>
            <a:pPr indent="0" marL="0">
              <a:buNone/>
            </a:pPr>
            <a:r>
              <a:rPr lang="en-US" sz="1900" b="1" dirty="0">
                <a:solidFill>
                  <a:srgbClr val="1E3A8A"/>
                </a:solidFill>
                <a:latin typeface="Arial" pitchFamily="34" charset="0"/>
                <a:ea typeface="Arial" pitchFamily="34" charset="-122"/>
                <a:cs typeface="Arial" pitchFamily="34" charset="-120"/>
              </a:rPr>
              <a:t>MediKiosk: AI-Powered Multimodal Clinical History &amp; Document Digitization</a:t>
            </a:r>
            <a:endParaRPr lang="en-US" sz="1900" dirty="0"/>
          </a:p>
        </p:txBody>
      </p:sp>
      <p:sp>
        <p:nvSpPr>
          <p:cNvPr id="3" name="Shape 1"/>
          <p:cNvSpPr/>
          <p:nvPr/>
        </p:nvSpPr>
        <p:spPr>
          <a:xfrm>
            <a:off x="548640" y="914400"/>
            <a:ext cx="3474720" cy="1463040"/>
          </a:xfrm>
          <a:prstGeom prst="roundRect">
            <a:avLst/>
          </a:prstGeom>
          <a:solidFill>
            <a:srgbClr val="FEF2F2"/>
          </a:solidFill>
          <a:ln w="12700">
            <a:solidFill>
              <a:srgbClr val="FCA5A5"/>
            </a:solidFill>
            <a:prstDash val="solid"/>
          </a:ln>
        </p:spPr>
      </p:sp>
      <p:sp>
        <p:nvSpPr>
          <p:cNvPr id="4" name="Text 2"/>
          <p:cNvSpPr/>
          <p:nvPr/>
        </p:nvSpPr>
        <p:spPr>
          <a:xfrm>
            <a:off x="640080" y="1005840"/>
            <a:ext cx="3291840" cy="1280160"/>
          </a:xfrm>
          <a:prstGeom prst="rect">
            <a:avLst/>
          </a:prstGeom>
          <a:noFill/>
          <a:ln/>
        </p:spPr>
        <p:txBody>
          <a:bodyPr wrap="square" rtlCol="0" anchor="ctr"/>
          <a:lstStyle/>
          <a:p>
            <a:pPr indent="0" marL="0">
              <a:buNone/>
            </a:pPr>
            <a:r>
              <a:rPr lang="en-US" sz="1100" b="1" dirty="0">
                <a:solidFill>
                  <a:srgbClr val="991B1B"/>
                </a:solidFill>
              </a:rPr>
              <a:t>Real-world issue: </a:t>
            </a:r>
            <a:pPr indent="0" marL="0">
              <a:buNone/>
            </a:pPr>
            <a:r>
              <a:rPr lang="en-US" sz="950" dirty="0">
                <a:solidFill>
                  <a:srgbClr val="450A0A"/>
                </a:solidFill>
              </a:rPr>
              <a:t>India's public hospital OPDs register 4,000–10,000 patients daily with consultation times collapsed to 2–5 minutes. Physicians must simultaneously elicit history, review scattered paper files, formulate diagnosis, and prescribe—causing missed comorbidities and diagnostic errors.</a:t>
            </a:r>
            <a:endParaRPr lang="en-US" sz="1100" dirty="0"/>
          </a:p>
        </p:txBody>
      </p:sp>
      <p:sp>
        <p:nvSpPr>
          <p:cNvPr id="5" name="Shape 3"/>
          <p:cNvSpPr/>
          <p:nvPr/>
        </p:nvSpPr>
        <p:spPr>
          <a:xfrm>
            <a:off x="548640" y="2468880"/>
            <a:ext cx="3474720" cy="1463040"/>
          </a:xfrm>
          <a:prstGeom prst="roundRect">
            <a:avLst/>
          </a:prstGeom>
          <a:solidFill>
            <a:srgbClr val="FFFBEB"/>
          </a:solidFill>
          <a:ln w="12700">
            <a:solidFill>
              <a:srgbClr val="FDE68A"/>
            </a:solidFill>
            <a:prstDash val="solid"/>
          </a:ln>
        </p:spPr>
      </p:sp>
      <p:sp>
        <p:nvSpPr>
          <p:cNvPr id="6" name="Text 4"/>
          <p:cNvSpPr/>
          <p:nvPr/>
        </p:nvSpPr>
        <p:spPr>
          <a:xfrm>
            <a:off x="640080" y="2560320"/>
            <a:ext cx="3291840" cy="1280160"/>
          </a:xfrm>
          <a:prstGeom prst="rect">
            <a:avLst/>
          </a:prstGeom>
          <a:noFill/>
          <a:ln/>
        </p:spPr>
        <p:txBody>
          <a:bodyPr wrap="square" rtlCol="0" anchor="ctr"/>
          <a:lstStyle/>
          <a:p>
            <a:pPr indent="0" marL="0">
              <a:buNone/>
            </a:pPr>
            <a:r>
              <a:rPr lang="en-US" sz="1100" b="1" dirty="0">
                <a:solidFill>
                  <a:srgbClr val="92400E"/>
                </a:solidFill>
              </a:rPr>
              <a:t>Why important: </a:t>
            </a:r>
            <a:pPr indent="0" marL="0">
              <a:buNone/>
            </a:pPr>
            <a:r>
              <a:rPr lang="en-US" sz="950" dirty="0">
                <a:solidFill>
                  <a:srgbClr val="78350F"/>
                </a:solidFill>
              </a:rPr>
              <a:t>In AYUSH institutions, deep history taking (Dashavidha Pariksha: Prakriti, Vikriti, Agni, Koshtha, Ahara-Vihara) is essential for personalized treatment. Under severe OPD rush, practitioners are forced to abbreviate this foundation of Ayurvedic care.</a:t>
            </a:r>
            <a:endParaRPr lang="en-US" sz="1100" dirty="0"/>
          </a:p>
        </p:txBody>
      </p:sp>
      <p:sp>
        <p:nvSpPr>
          <p:cNvPr id="7" name="Shape 5"/>
          <p:cNvSpPr/>
          <p:nvPr/>
        </p:nvSpPr>
        <p:spPr>
          <a:xfrm>
            <a:off x="548640" y="4023360"/>
            <a:ext cx="3474720" cy="1645920"/>
          </a:xfrm>
          <a:prstGeom prst="roundRect">
            <a:avLst/>
          </a:prstGeom>
          <a:solidFill>
            <a:srgbClr val="F0FDF4"/>
          </a:solidFill>
          <a:ln w="12700">
            <a:solidFill>
              <a:srgbClr val="86EFAC"/>
            </a:solidFill>
            <a:prstDash val="solid"/>
          </a:ln>
        </p:spPr>
      </p:sp>
      <p:sp>
        <p:nvSpPr>
          <p:cNvPr id="8" name="Text 6"/>
          <p:cNvSpPr/>
          <p:nvPr/>
        </p:nvSpPr>
        <p:spPr>
          <a:xfrm>
            <a:off x="640080" y="4114800"/>
            <a:ext cx="3291840" cy="1463040"/>
          </a:xfrm>
          <a:prstGeom prst="rect">
            <a:avLst/>
          </a:prstGeom>
          <a:noFill/>
          <a:ln/>
        </p:spPr>
        <p:txBody>
          <a:bodyPr wrap="square" rtlCol="0" anchor="ctr"/>
          <a:lstStyle/>
          <a:p>
            <a:pPr indent="0" marL="0">
              <a:buNone/>
            </a:pPr>
            <a:r>
              <a:rPr lang="en-US" sz="1100" b="1" dirty="0">
                <a:solidFill>
                  <a:srgbClr val="166534"/>
                </a:solidFill>
              </a:rPr>
              <a:t>Solution: </a:t>
            </a:r>
            <a:pPr indent="0" marL="0">
              <a:buNone/>
            </a:pPr>
            <a:r>
              <a:rPr lang="en-US" sz="950" dirty="0">
                <a:solidFill>
                  <a:srgbClr val="14532D"/>
                </a:solidFill>
              </a:rPr>
              <a:t>MediKiosk allows any patient to record comprehensive medical history via natural voice (Bhashini) and touch, digitize existing paper prescriptions/labs, and generate a structured, physician-ready clinical summary pushed to the hospital EMR/HIS before entering the consultation room.</a:t>
            </a:r>
            <a:endParaRPr lang="en-US" sz="1100" dirty="0"/>
          </a:p>
        </p:txBody>
      </p:sp>
      <p:sp>
        <p:nvSpPr>
          <p:cNvPr id="9" name="Shape 7"/>
          <p:cNvSpPr/>
          <p:nvPr/>
        </p:nvSpPr>
        <p:spPr>
          <a:xfrm>
            <a:off x="4206240" y="914400"/>
            <a:ext cx="3474720" cy="4754880"/>
          </a:xfrm>
          <a:prstGeom prst="roundRect">
            <a:avLst/>
          </a:prstGeom>
          <a:solidFill>
            <a:srgbClr val="F8FAFC"/>
          </a:solidFill>
          <a:ln w="19050">
            <a:solidFill>
              <a:srgbClr val="CBD5E1"/>
            </a:solidFill>
            <a:prstDash val="solid"/>
          </a:ln>
        </p:spPr>
      </p:sp>
      <p:sp>
        <p:nvSpPr>
          <p:cNvPr id="10" name="Text 8"/>
          <p:cNvSpPr/>
          <p:nvPr/>
        </p:nvSpPr>
        <p:spPr>
          <a:xfrm>
            <a:off x="4389120" y="1097280"/>
            <a:ext cx="3108960" cy="320040"/>
          </a:xfrm>
          <a:prstGeom prst="rect">
            <a:avLst/>
          </a:prstGeom>
          <a:noFill/>
          <a:ln/>
        </p:spPr>
        <p:txBody>
          <a:bodyPr wrap="square" rtlCol="0" anchor="ctr"/>
          <a:lstStyle/>
          <a:p>
            <a:pPr algn="ctr" indent="0" marL="0">
              <a:buNone/>
            </a:pPr>
            <a:r>
              <a:rPr lang="en-US" sz="1200" b="1" dirty="0">
                <a:solidFill>
                  <a:srgbClr val="0F766E"/>
                </a:solidFill>
              </a:rPr>
              <a:t>CORE INNOVATION</a:t>
            </a:r>
            <a:endParaRPr lang="en-US" sz="1200" dirty="0"/>
          </a:p>
        </p:txBody>
      </p:sp>
      <p:sp>
        <p:nvSpPr>
          <p:cNvPr id="11" name="Text 9"/>
          <p:cNvSpPr/>
          <p:nvPr/>
        </p:nvSpPr>
        <p:spPr>
          <a:xfrm>
            <a:off x="4389120" y="1417320"/>
            <a:ext cx="3108960" cy="548640"/>
          </a:xfrm>
          <a:prstGeom prst="rect">
            <a:avLst/>
          </a:prstGeom>
          <a:noFill/>
          <a:ln/>
        </p:spPr>
        <p:txBody>
          <a:bodyPr wrap="square" rtlCol="0" anchor="ctr"/>
          <a:lstStyle/>
          <a:p>
            <a:pPr algn="ctr" indent="0" marL="0">
              <a:buNone/>
            </a:pPr>
            <a:r>
              <a:rPr lang="en-US" sz="1000" dirty="0">
                <a:solidFill>
                  <a:srgbClr val="334155"/>
                </a:solidFill>
              </a:rPr>
              <a:t>Conversational Multimodal Clinical Intake Engine (Voice + Touch + OCR)</a:t>
            </a:r>
            <a:endParaRPr lang="en-US" sz="1000" dirty="0"/>
          </a:p>
        </p:txBody>
      </p:sp>
      <p:sp>
        <p:nvSpPr>
          <p:cNvPr id="12" name="Shape 10"/>
          <p:cNvSpPr/>
          <p:nvPr/>
        </p:nvSpPr>
        <p:spPr>
          <a:xfrm>
            <a:off x="4389120" y="2011680"/>
            <a:ext cx="3108960" cy="18288"/>
          </a:xfrm>
          <a:prstGeom prst="rect">
            <a:avLst/>
          </a:prstGeom>
          <a:solidFill>
            <a:srgbClr val="E2E8F0"/>
          </a:solidFill>
          <a:ln/>
        </p:spPr>
      </p:sp>
      <p:sp>
        <p:nvSpPr>
          <p:cNvPr id="13" name="Text 11"/>
          <p:cNvSpPr/>
          <p:nvPr/>
        </p:nvSpPr>
        <p:spPr>
          <a:xfrm>
            <a:off x="4389120" y="2103120"/>
            <a:ext cx="3108960" cy="274320"/>
          </a:xfrm>
          <a:prstGeom prst="rect">
            <a:avLst/>
          </a:prstGeom>
          <a:noFill/>
          <a:ln/>
        </p:spPr>
        <p:txBody>
          <a:bodyPr wrap="square" rtlCol="0" anchor="ctr"/>
          <a:lstStyle/>
          <a:p>
            <a:pPr indent="0" marL="0">
              <a:buNone/>
            </a:pPr>
            <a:r>
              <a:rPr lang="en-US" sz="1000" b="1" dirty="0">
                <a:solidFill>
                  <a:srgbClr val="0F172A"/>
                </a:solidFill>
              </a:rPr>
              <a:t>PRIMARY MODULES &amp; CAPABILITIES</a:t>
            </a:r>
            <a:endParaRPr lang="en-US" sz="1000" dirty="0"/>
          </a:p>
        </p:txBody>
      </p:sp>
      <p:sp>
        <p:nvSpPr>
          <p:cNvPr id="14" name="Text 12"/>
          <p:cNvSpPr/>
          <p:nvPr/>
        </p:nvSpPr>
        <p:spPr>
          <a:xfrm>
            <a:off x="4389120" y="2423160"/>
            <a:ext cx="3108960" cy="3108960"/>
          </a:xfrm>
          <a:prstGeom prst="rect">
            <a:avLst/>
          </a:prstGeom>
          <a:noFill/>
          <a:ln/>
        </p:spPr>
        <p:txBody>
          <a:bodyPr wrap="square" rtlCol="0" anchor="ctr"/>
          <a:lstStyle/>
          <a:p>
            <a:pPr indent="0" marL="0">
              <a:buNone/>
            </a:pPr>
            <a:r>
              <a:rPr lang="en-US" sz="880" dirty="0">
                <a:solidFill>
                  <a:srgbClr val="1E293B"/>
                </a:solidFill>
              </a:rPr>
              <a:t>• Adaptive Voice Questioning:
  SOCRATES clinical framework in Hindi, Tamil, Telugu, etc.
</a:t>
            </a:r>
            <a:pPr indent="0" marL="0">
              <a:buNone/>
            </a:pPr>
            <a:r>
              <a:rPr lang="en-US" sz="880" dirty="0">
                <a:solidFill>
                  <a:srgbClr val="1E293B"/>
                </a:solidFill>
              </a:rPr>
              <a:t>• AYUSH Dashavidha Pariksha:
  Prakriti, Vikriti, Agni, Koshtha &amp; Ahara-Vihara assessment.
</a:t>
            </a:r>
            <a:pPr indent="0" marL="0">
              <a:buNone/>
            </a:pPr>
            <a:r>
              <a:rPr lang="en-US" sz="880" dirty="0">
                <a:solidFill>
                  <a:srgbClr val="1E293B"/>
                </a:solidFill>
              </a:rPr>
              <a:t>• Medical Document OCR &amp; Timeline:
  Prescriptions, labs &amp; discharge summaries extracted.
</a:t>
            </a:r>
            <a:pPr indent="0" marL="0">
              <a:buNone/>
            </a:pPr>
            <a:r>
              <a:rPr lang="en-US" sz="880" b="1" dirty="0">
                <a:solidFill>
                  <a:srgbClr val="E11D48"/>
                </a:solidFill>
              </a:rPr>
              <a:t>• Real-Time Emergency Red-Flag:
  Instant priority triage alert for acute chest pain/stroke.
</a:t>
            </a:r>
            <a:pPr indent="0" marL="0">
              <a:buNone/>
            </a:pPr>
            <a:r>
              <a:rPr lang="en-US" sz="880" dirty="0">
                <a:solidFill>
                  <a:srgbClr val="1E293B"/>
                </a:solidFill>
              </a:rPr>
              <a:t>• ABDM FHIR &amp; DPDP Act 2023:</a:t>
            </a:r>
            <a:endParaRPr lang="en-US" sz="880" dirty="0"/>
          </a:p>
          <a:p>
            <a:pPr indent="0" marL="0">
              <a:buNone/>
            </a:pPr>
            <a:r>
              <a:rPr lang="en-US" sz="880" dirty="0">
                <a:solidFill>
                  <a:srgbClr val="1E293B"/>
                </a:solidFill>
              </a:rPr>
              <a:t>  Secure ABHA integration with instant session termination.</a:t>
            </a:r>
            <a:endParaRPr lang="en-US" sz="880" dirty="0"/>
          </a:p>
        </p:txBody>
      </p:sp>
      <p:sp>
        <p:nvSpPr>
          <p:cNvPr id="15" name="Text 13"/>
          <p:cNvSpPr/>
          <p:nvPr/>
        </p:nvSpPr>
        <p:spPr>
          <a:xfrm>
            <a:off x="7863840" y="914400"/>
            <a:ext cx="3840480" cy="320040"/>
          </a:xfrm>
          <a:prstGeom prst="rect">
            <a:avLst/>
          </a:prstGeom>
          <a:noFill/>
          <a:ln/>
        </p:spPr>
        <p:txBody>
          <a:bodyPr wrap="square" rtlCol="0" anchor="ctr"/>
          <a:lstStyle/>
          <a:p>
            <a:pPr indent="0" marL="0">
              <a:buNone/>
            </a:pPr>
            <a:r>
              <a:rPr lang="en-US" sz="1200" b="1" dirty="0">
                <a:solidFill>
                  <a:srgbClr val="1E3A8A"/>
                </a:solidFill>
              </a:rPr>
              <a:t>Risk vs. Solution Mapping</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863840" y="1280160"/>
          <a:ext cx="3931920" cy="914400"/>
        </p:xfrm>
        <a:graphic>
          <a:graphicData uri="http://schemas.openxmlformats.org/drawingml/2006/table">
            <a:tbl>
              <a:tblPr/>
              <a:tblGrid>
                <a:gridCol w="1645920"/>
                <a:gridCol w="2286000"/>
              </a:tblGrid>
              <a:tr h="0">
                <a:tc>
                  <a:txBody>
                    <a:bodyPr/>
                    <a:lstStyle/>
                    <a:p>
                      <a:pPr indent="0" marL="0">
                        <a:buNone/>
                      </a:pPr>
                      <a:r>
                        <a:rPr lang="en-US" sz="900" b="1" dirty="0">
                          <a:solidFill>
                            <a:srgbClr val="334155"/>
                          </a:solidFill>
                        </a:rPr>
                        <a:t>Clinical Bottleneck</a:t>
                      </a:r>
                      <a:endParaRPr lang="en-US" sz="9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900" b="1" dirty="0">
                          <a:solidFill>
                            <a:srgbClr val="334155"/>
                          </a:solidFill>
                        </a:rPr>
                        <a:t>MediKiosk AI Solution</a:t>
                      </a:r>
                      <a:endParaRPr lang="en-US" sz="9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850" b="1" dirty="0">
                          <a:solidFill>
                            <a:srgbClr val="991B1B"/>
                          </a:solidFill>
                        </a:rPr>
                        <a:t>2-5 min OPD consultation time</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15803D"/>
                          </a:solidFill>
                        </a:rPr>
                        <a:t>Pre-consultation intake collects 80% history beforehand</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850" b="1" dirty="0">
                          <a:solidFill>
                            <a:srgbClr val="991B1B"/>
                          </a:solidFill>
                        </a:rPr>
                        <a:t>Elderly / low-literacy exclusion</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15803D"/>
                          </a:solidFill>
                        </a:rPr>
                        <a:t>Voice-first (Bhashini) + pictorial icon choices</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850" b="1" dirty="0">
                          <a:solidFill>
                            <a:srgbClr val="991B1B"/>
                          </a:solidFill>
                        </a:rPr>
                        <a:t>Loss of Ayurvedic Pariksha depth</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15803D"/>
                          </a:solidFill>
                        </a:rPr>
                        <a:t>Guided Dashavidha questionnaire &amp; Agni profiling</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850" b="1" dirty="0">
                          <a:solidFill>
                            <a:srgbClr val="991B1B"/>
                          </a:solidFill>
                        </a:rPr>
                        <a:t>Disordered paper prescriptions</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15803D"/>
                          </a:solidFill>
                        </a:rPr>
                        <a:t>Multilingual OCR + chronological patient timeline</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850" b="1" dirty="0">
                          <a:solidFill>
                            <a:srgbClr val="991B1B"/>
                          </a:solidFill>
                        </a:rPr>
                        <a:t>Acute emergencies stuck in queue</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15803D"/>
                          </a:solidFill>
                        </a:rPr>
                        <a:t>Emergency Red-Flag audio/SMS alert to triage desk</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7" name="Text 14"/>
          <p:cNvSpPr/>
          <p:nvPr/>
        </p:nvSpPr>
        <p:spPr>
          <a:xfrm>
            <a:off x="548640" y="6217920"/>
            <a:ext cx="5486400" cy="274320"/>
          </a:xfrm>
          <a:prstGeom prst="rect">
            <a:avLst/>
          </a:prstGeom>
          <a:noFill/>
          <a:ln/>
        </p:spPr>
        <p:txBody>
          <a:bodyPr wrap="square" rtlCol="0" anchor="ctr"/>
          <a:lstStyle/>
          <a:p>
            <a:pPr indent="0" marL="0">
              <a:buNone/>
            </a:pPr>
            <a:r>
              <a:rPr lang="en-US" sz="900" dirty="0">
                <a:solidFill>
                  <a:srgbClr val="94A3B8"/>
                </a:solidFill>
              </a:rPr>
              <a:t>@SIH Idea submission- Template | Slide 2</a:t>
            </a:r>
            <a:endParaRPr lang="en-US" sz="900" dirty="0"/>
          </a:p>
        </p:txBody>
      </p:sp>
      <p:sp>
        <p:nvSpPr>
          <p:cNvPr id="18" name="Text 15"/>
          <p:cNvSpPr/>
          <p:nvPr/>
        </p:nvSpPr>
        <p:spPr>
          <a:xfrm>
            <a:off x="11430000" y="6217920"/>
            <a:ext cx="457200" cy="274320"/>
          </a:xfrm>
          <a:prstGeom prst="rect">
            <a:avLst/>
          </a:prstGeom>
          <a:noFill/>
          <a:ln/>
        </p:spPr>
        <p:txBody>
          <a:bodyPr wrap="square" rtlCol="0" anchor="ctr"/>
          <a:lstStyle/>
          <a:p>
            <a:pPr algn="r" indent="0" marL="0">
              <a:buNone/>
            </a:pPr>
            <a:r>
              <a:rPr lang="en-US" sz="1200" dirty="0">
                <a:solidFill>
                  <a:srgbClr val="64748B"/>
                </a:solidFill>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0972800" cy="548640"/>
          </a:xfrm>
          <a:prstGeom prst="rect">
            <a:avLst/>
          </a:prstGeom>
          <a:noFill/>
          <a:ln/>
        </p:spPr>
        <p:txBody>
          <a:bodyPr wrap="square" rtlCol="0" anchor="ctr"/>
          <a:lstStyle/>
          <a:p>
            <a:pPr indent="0" marL="0">
              <a:buNone/>
            </a:pPr>
            <a:r>
              <a:rPr lang="en-US" sz="2000" b="1" dirty="0">
                <a:solidFill>
                  <a:srgbClr val="1E3A8A"/>
                </a:solidFill>
                <a:latin typeface="Arial" pitchFamily="34" charset="0"/>
                <a:ea typeface="Arial" pitchFamily="34" charset="-122"/>
                <a:cs typeface="Arial" pitchFamily="34" charset="-120"/>
              </a:rPr>
              <a:t>TECHNICAL APPROACH &amp; SYSTEM ARCHITECTURE</a:t>
            </a:r>
            <a:endParaRPr lang="en-US" sz="2000" dirty="0"/>
          </a:p>
        </p:txBody>
      </p:sp>
      <p:sp>
        <p:nvSpPr>
          <p:cNvPr id="3" name="Shape 1"/>
          <p:cNvSpPr/>
          <p:nvPr/>
        </p:nvSpPr>
        <p:spPr>
          <a:xfrm>
            <a:off x="548640" y="914400"/>
            <a:ext cx="3657600" cy="5029200"/>
          </a:xfrm>
          <a:prstGeom prst="roundRect">
            <a:avLst/>
          </a:prstGeom>
          <a:solidFill>
            <a:srgbClr val="F8FAFC"/>
          </a:solidFill>
          <a:ln w="12700">
            <a:solidFill>
              <a:srgbClr val="E2E8F0"/>
            </a:solidFill>
            <a:prstDash val="solid"/>
          </a:ln>
        </p:spPr>
      </p:sp>
      <p:sp>
        <p:nvSpPr>
          <p:cNvPr id="4" name="Text 2"/>
          <p:cNvSpPr/>
          <p:nvPr/>
        </p:nvSpPr>
        <p:spPr>
          <a:xfrm>
            <a:off x="731520" y="1051560"/>
            <a:ext cx="3291840" cy="365760"/>
          </a:xfrm>
          <a:prstGeom prst="rect">
            <a:avLst/>
          </a:prstGeom>
          <a:noFill/>
          <a:ln/>
        </p:spPr>
        <p:txBody>
          <a:bodyPr wrap="square" rtlCol="0" anchor="ctr"/>
          <a:lstStyle/>
          <a:p>
            <a:pPr indent="0" marL="0">
              <a:buNone/>
            </a:pPr>
            <a:r>
              <a:rPr lang="en-US" sz="1100" b="1" dirty="0">
                <a:solidFill>
                  <a:srgbClr val="0F172A"/>
                </a:solidFill>
              </a:rPr>
              <a:t>METHODOLOGY &amp; PROCESS OF IMPLEMENTATION</a:t>
            </a:r>
            <a:endParaRPr lang="en-US" sz="1100" dirty="0"/>
          </a:p>
        </p:txBody>
      </p:sp>
      <p:sp>
        <p:nvSpPr>
          <p:cNvPr id="5" name="Text 3"/>
          <p:cNvSpPr/>
          <p:nvPr/>
        </p:nvSpPr>
        <p:spPr>
          <a:xfrm>
            <a:off x="731520" y="1417320"/>
            <a:ext cx="3291840" cy="4389120"/>
          </a:xfrm>
          <a:prstGeom prst="rect">
            <a:avLst/>
          </a:prstGeom>
          <a:noFill/>
          <a:ln/>
        </p:spPr>
        <p:txBody>
          <a:bodyPr wrap="square" rtlCol="0" anchor="ctr"/>
          <a:lstStyle/>
          <a:p>
            <a:pPr indent="0" marL="0">
              <a:buNone/>
            </a:pPr>
            <a:r>
              <a:rPr lang="en-US" sz="950" b="1" dirty="0">
                <a:solidFill>
                  <a:srgbClr val="0F766E"/>
                </a:solidFill>
              </a:rPr>
              <a:t>1. Step 1: Identify &amp; Consent (ABDM/DPDP)
</a:t>
            </a:r>
            <a:pPr indent="0" marL="0">
              <a:buNone/>
            </a:pPr>
            <a:r>
              <a:rPr lang="en-US" sz="850" dirty="0">
                <a:solidFill>
                  <a:srgbClr val="475569"/>
                </a:solidFill>
              </a:rPr>
              <a:t>   ABHA ID QR scan or Aadhaar OTP. Audio-guided consent in local language.
</a:t>
            </a:r>
            <a:pPr indent="0" marL="0">
              <a:buNone/>
            </a:pPr>
            <a:r>
              <a:rPr lang="en-US" sz="950" b="1" dirty="0">
                <a:solidFill>
                  <a:srgbClr val="0F766E"/>
                </a:solidFill>
              </a:rPr>
              <a:t>2. Step 2: Multimodal Conversational History (Mod A)
</a:t>
            </a:r>
            <a:pPr indent="0" marL="0">
              <a:buNone/>
            </a:pPr>
            <a:r>
              <a:rPr lang="en-US" sz="850" dirty="0">
                <a:solidFill>
                  <a:srgbClr val="475569"/>
                </a:solidFill>
              </a:rPr>
              <a:t>   AI4Bharat/Bhashini ASR. Adaptive SOCRATES questioning with dual voice/touch.
</a:t>
            </a:r>
            <a:pPr indent="0" marL="0">
              <a:buNone/>
            </a:pPr>
            <a:r>
              <a:rPr lang="en-US" sz="950" b="1" dirty="0">
                <a:solidFill>
                  <a:srgbClr val="0F766E"/>
                </a:solidFill>
              </a:rPr>
              <a:t>3. Step 3: AYUSH Deep Pariksha Layer
</a:t>
            </a:r>
            <a:pPr indent="0" marL="0">
              <a:buNone/>
            </a:pPr>
            <a:r>
              <a:rPr lang="en-US" sz="850" dirty="0">
                <a:solidFill>
                  <a:srgbClr val="475569"/>
                </a:solidFill>
              </a:rPr>
              <a:t>   Elicits Dashavidha parameters: Prakriti, Vikriti, Agni, Koshtha &amp; Ahara-Vihara.
</a:t>
            </a:r>
            <a:pPr indent="0" marL="0">
              <a:buNone/>
            </a:pPr>
            <a:r>
              <a:rPr lang="en-US" sz="950" b="1" dirty="0">
                <a:solidFill>
                  <a:srgbClr val="0F766E"/>
                </a:solidFill>
              </a:rPr>
              <a:t>4. Step 4: Medical Document OCR &amp; Timeline (Mod B)
</a:t>
            </a:r>
            <a:pPr indent="0" marL="0">
              <a:buNone/>
            </a:pPr>
            <a:r>
              <a:rPr lang="en-US" sz="850" dirty="0">
                <a:solidFill>
                  <a:srgbClr val="475569"/>
                </a:solidFill>
              </a:rPr>
              <a:t>   Camera upload of paper prescriptions; extracts medications, labs &amp; out-of-range flags.
</a:t>
            </a:r>
            <a:pPr indent="0" marL="0">
              <a:buNone/>
            </a:pPr>
            <a:r>
              <a:rPr lang="en-US" sz="950" b="1" dirty="0">
                <a:solidFill>
                  <a:srgbClr val="0F766E"/>
                </a:solidFill>
              </a:rPr>
              <a:t>5. Step 5: Physician-Ready Synthesis (Mod C)
</a:t>
            </a:r>
            <a:pPr indent="0" marL="0">
              <a:buNone/>
            </a:pPr>
            <a:r>
              <a:rPr lang="en-US" sz="850" dirty="0">
                <a:solidFill>
                  <a:srgbClr val="475569"/>
                </a:solidFill>
              </a:rPr>
              <a:t>   Compiles standard EHR note (Chief Complaint, HPI, Past, Allergies, AYUSH Profile).
</a:t>
            </a:r>
            <a:pPr indent="0" marL="0">
              <a:buNone/>
            </a:pPr>
            <a:r>
              <a:rPr lang="en-US" sz="950" b="1" dirty="0">
                <a:solidFill>
                  <a:srgbClr val="0F766E"/>
                </a:solidFill>
              </a:rPr>
              <a:t>6. Step 6: HIS/EMR &amp; ABDM FHIR Push (Mod D)
</a:t>
            </a:r>
            <a:pPr indent="0" marL="0">
              <a:buNone/>
            </a:pPr>
            <a:r>
              <a:rPr lang="en-US" sz="850" dirty="0">
                <a:solidFill>
                  <a:srgbClr val="475569"/>
                </a:solidFill>
              </a:rPr>
              <a:t>   Instant draft delivery to doctor's screen. 1-click accept, amend, or sign.</a:t>
            </a:r>
            <a:endParaRPr lang="en-US" sz="950" dirty="0"/>
          </a:p>
        </p:txBody>
      </p:sp>
      <p:sp>
        <p:nvSpPr>
          <p:cNvPr id="6" name="Shape 4"/>
          <p:cNvSpPr/>
          <p:nvPr/>
        </p:nvSpPr>
        <p:spPr>
          <a:xfrm>
            <a:off x="4389120" y="914400"/>
            <a:ext cx="3840480" cy="5029200"/>
          </a:xfrm>
          <a:prstGeom prst="roundRect">
            <a:avLst/>
          </a:prstGeom>
          <a:solidFill>
            <a:srgbClr val="F0FDFA"/>
          </a:solidFill>
          <a:ln w="19050">
            <a:solidFill>
              <a:srgbClr val="99F6E4"/>
            </a:solidFill>
            <a:prstDash val="solid"/>
          </a:ln>
        </p:spPr>
      </p:sp>
      <p:sp>
        <p:nvSpPr>
          <p:cNvPr id="7" name="Text 5"/>
          <p:cNvSpPr/>
          <p:nvPr/>
        </p:nvSpPr>
        <p:spPr>
          <a:xfrm>
            <a:off x="4572000" y="1051560"/>
            <a:ext cx="3474720" cy="320040"/>
          </a:xfrm>
          <a:prstGeom prst="rect">
            <a:avLst/>
          </a:prstGeom>
          <a:noFill/>
          <a:ln/>
        </p:spPr>
        <p:txBody>
          <a:bodyPr wrap="square" rtlCol="0" anchor="ctr"/>
          <a:lstStyle/>
          <a:p>
            <a:pPr algn="ctr" indent="0" marL="0">
              <a:buNone/>
            </a:pPr>
            <a:r>
              <a:rPr lang="en-US" sz="1100" b="1" dirty="0">
                <a:solidFill>
                  <a:srgbClr val="0F766E"/>
                </a:solidFill>
              </a:rPr>
              <a:t>END-TO-END DATA FLOW PIPELINE</a:t>
            </a:r>
            <a:endParaRPr lang="en-US" sz="1100" dirty="0"/>
          </a:p>
        </p:txBody>
      </p:sp>
      <p:sp>
        <p:nvSpPr>
          <p:cNvPr id="8" name="Text 6"/>
          <p:cNvSpPr/>
          <p:nvPr/>
        </p:nvSpPr>
        <p:spPr>
          <a:xfrm>
            <a:off x="4572000" y="1371600"/>
            <a:ext cx="3474720" cy="4389120"/>
          </a:xfrm>
          <a:prstGeom prst="rect">
            <a:avLst/>
          </a:prstGeom>
          <a:noFill/>
          <a:ln/>
        </p:spPr>
        <p:txBody>
          <a:bodyPr wrap="square" rtlCol="0" anchor="ctr"/>
          <a:lstStyle/>
          <a:p>
            <a:pPr indent="0" marL="0">
              <a:buNone/>
            </a:pPr>
            <a:r>
              <a:rPr lang="en-US" sz="900" b="1" dirty="0">
                <a:solidFill>
                  <a:srgbClr val="0F172A"/>
                </a:solidFill>
              </a:rPr>
              <a:t>[ PATIENT AT KIOSK / MOBILE ]
</a:t>
            </a:r>
            <a:pPr indent="0" marL="0">
              <a:buNone/>
            </a:pPr>
            <a:r>
              <a:rPr lang="en-US" sz="850" dirty="0">
                <a:solidFill>
                  <a:srgbClr val="334155"/>
                </a:solidFill>
              </a:rPr>
              <a:t>  ├─ Natural Voice Input (Hindi/Tamil/Telugu/English)
</a:t>
            </a:r>
            <a:pPr indent="0" marL="0">
              <a:buNone/>
            </a:pPr>
            <a:r>
              <a:rPr lang="en-US" sz="850" dirty="0">
                <a:solidFill>
                  <a:srgbClr val="334155"/>
                </a:solidFill>
              </a:rPr>
              <a:t>  ├─ Touchscreen Guided Options
</a:t>
            </a:r>
            <a:pPr indent="0" marL="0">
              <a:buNone/>
            </a:pPr>
            <a:r>
              <a:rPr lang="en-US" sz="850" dirty="0">
                <a:solidFill>
                  <a:srgbClr val="334155"/>
                </a:solidFill>
              </a:rPr>
              <a:t>  └─ Paper Prescriptions / Lab Reports
</a:t>
            </a:r>
            <a:pPr indent="0" marL="0">
              <a:buNone/>
            </a:pPr>
            <a:r>
              <a:rPr lang="en-US" sz="850" dirty="0">
                <a:solidFill>
                  <a:srgbClr val="64748B"/>
                </a:solidFill>
              </a:rPr>
              <a:t>               │
               ▼
</a:t>
            </a:r>
            <a:pPr indent="0" marL="0">
              <a:buNone/>
            </a:pPr>
            <a:r>
              <a:rPr lang="en-US" sz="900" b="1" dirty="0">
                <a:solidFill>
                  <a:srgbClr val="0F766E"/>
                </a:solidFill>
              </a:rPr>
              <a:t>[ MULTIMODAL INGESTION LAYER ]
</a:t>
            </a:r>
            <a:pPr indent="0" marL="0">
              <a:buNone/>
            </a:pPr>
            <a:r>
              <a:rPr lang="en-US" sz="850" dirty="0">
                <a:solidFill>
                  <a:srgbClr val="334155"/>
                </a:solidFill>
              </a:rPr>
              <a:t>  ├─ Bhashini / IndicWhisper ASR Speech Engine
</a:t>
            </a:r>
            <a:pPr indent="0" marL="0">
              <a:buNone/>
            </a:pPr>
            <a:r>
              <a:rPr lang="en-US" sz="850" dirty="0">
                <a:solidFill>
                  <a:srgbClr val="334155"/>
                </a:solidFill>
              </a:rPr>
              <a:t>  ├─ Medical OCR &amp; Handwriting Entity Extractor
</a:t>
            </a:r>
            <a:pPr indent="0" marL="0">
              <a:buNone/>
            </a:pPr>
            <a:r>
              <a:rPr lang="en-US" sz="850" b="1" dirty="0">
                <a:solidFill>
                  <a:srgbClr val="E11D48"/>
                </a:solidFill>
              </a:rPr>
              <a:t>  └─ Emergency Red-Flag Detector ──► [ PRIORITY TRIAGE ]
</a:t>
            </a:r>
            <a:pPr indent="0" marL="0">
              <a:buNone/>
            </a:pPr>
            <a:r>
              <a:rPr lang="en-US" sz="850" dirty="0">
                <a:solidFill>
                  <a:srgbClr val="64748B"/>
                </a:solidFill>
              </a:rPr>
              <a:t>               │
               ▼
</a:t>
            </a:r>
            <a:pPr indent="0" marL="0">
              <a:buNone/>
            </a:pPr>
            <a:r>
              <a:rPr lang="en-US" sz="900" b="1" dirty="0">
                <a:solidFill>
                  <a:srgbClr val="0F766E"/>
                </a:solidFill>
              </a:rPr>
              <a:t>[ CLINICAL SYNTHESIS ENGINE ]
</a:t>
            </a:r>
            <a:pPr indent="0" marL="0">
              <a:buNone/>
            </a:pPr>
            <a:r>
              <a:rPr lang="en-US" sz="850" dirty="0">
                <a:solidFill>
                  <a:srgbClr val="334155"/>
                </a:solidFill>
              </a:rPr>
              <a:t>  ├─ Dashavidha Pariksha (Prakriti, Agni, Koshtha)
</a:t>
            </a:r>
            <a:pPr indent="0" marL="0">
              <a:buNone/>
            </a:pPr>
            <a:r>
              <a:rPr lang="en-US" sz="850" dirty="0">
                <a:solidFill>
                  <a:srgbClr val="334155"/>
                </a:solidFill>
              </a:rPr>
              <a:t>  ├─ Chronological Timeline Builder
</a:t>
            </a:r>
            <a:pPr indent="0" marL="0">
              <a:buNone/>
            </a:pPr>
            <a:r>
              <a:rPr lang="en-US" sz="850" dirty="0">
                <a:solidFill>
                  <a:srgbClr val="334155"/>
                </a:solidFill>
              </a:rPr>
              <a:t>  └─ FHIR Bundle Generator (ABDM Ecosystem)
</a:t>
            </a:r>
            <a:pPr indent="0" marL="0">
              <a:buNone/>
            </a:pPr>
            <a:r>
              <a:rPr lang="en-US" sz="850" dirty="0">
                <a:solidFill>
                  <a:srgbClr val="64748B"/>
                </a:solidFill>
              </a:rPr>
              <a:t>               │
               ▼
</a:t>
            </a:r>
            <a:pPr indent="0" marL="0">
              <a:buNone/>
            </a:pPr>
            <a:r>
              <a:rPr lang="en-US" sz="900" b="1" dirty="0">
                <a:solidFill>
                  <a:srgbClr val="1E3A8A"/>
                </a:solidFill>
              </a:rPr>
              <a:t>[ DOCTOR CONSULTATION SCREEN ]
</a:t>
            </a:r>
            <a:pPr indent="0" marL="0">
              <a:buNone/>
            </a:pPr>
            <a:r>
              <a:rPr lang="en-US" sz="850" b="1" dirty="0">
                <a:solidFill>
                  <a:srgbClr val="15803D"/>
                </a:solidFill>
              </a:rPr>
              <a:t>  Instant 30-sec Structured Summary Review &amp; Sign</a:t>
            </a:r>
            <a:endParaRPr lang="en-US" sz="900" dirty="0"/>
          </a:p>
        </p:txBody>
      </p:sp>
      <p:sp>
        <p:nvSpPr>
          <p:cNvPr id="9" name="Shape 7"/>
          <p:cNvSpPr/>
          <p:nvPr/>
        </p:nvSpPr>
        <p:spPr>
          <a:xfrm>
            <a:off x="8412480" y="914400"/>
            <a:ext cx="3291840" cy="5029200"/>
          </a:xfrm>
          <a:prstGeom prst="roundRect">
            <a:avLst/>
          </a:prstGeom>
          <a:solidFill>
            <a:srgbClr val="F8FAFC"/>
          </a:solidFill>
          <a:ln w="12700">
            <a:solidFill>
              <a:srgbClr val="E2E8F0"/>
            </a:solidFill>
            <a:prstDash val="solid"/>
          </a:ln>
        </p:spPr>
      </p:sp>
      <p:sp>
        <p:nvSpPr>
          <p:cNvPr id="10" name="Text 8"/>
          <p:cNvSpPr/>
          <p:nvPr/>
        </p:nvSpPr>
        <p:spPr>
          <a:xfrm>
            <a:off x="8595360" y="1051560"/>
            <a:ext cx="2926080" cy="320040"/>
          </a:xfrm>
          <a:prstGeom prst="rect">
            <a:avLst/>
          </a:prstGeom>
          <a:noFill/>
          <a:ln/>
        </p:spPr>
        <p:txBody>
          <a:bodyPr wrap="square" rtlCol="0" anchor="ctr"/>
          <a:lstStyle/>
          <a:p>
            <a:pPr indent="0" marL="0">
              <a:buNone/>
            </a:pPr>
            <a:r>
              <a:rPr lang="en-US" sz="1100" b="1" dirty="0">
                <a:solidFill>
                  <a:srgbClr val="0F172A"/>
                </a:solidFill>
              </a:rPr>
              <a:t>TECHNOLOGIES USED</a:t>
            </a:r>
            <a:endParaRPr lang="en-US" sz="1100" dirty="0"/>
          </a:p>
        </p:txBody>
      </p:sp>
      <p:sp>
        <p:nvSpPr>
          <p:cNvPr id="11" name="Text 9"/>
          <p:cNvSpPr/>
          <p:nvPr/>
        </p:nvSpPr>
        <p:spPr>
          <a:xfrm>
            <a:off x="8595360" y="1371600"/>
            <a:ext cx="2926080" cy="4389120"/>
          </a:xfrm>
          <a:prstGeom prst="rect">
            <a:avLst/>
          </a:prstGeom>
          <a:noFill/>
          <a:ln/>
        </p:spPr>
        <p:txBody>
          <a:bodyPr wrap="square" rtlCol="0" anchor="ctr"/>
          <a:lstStyle/>
          <a:p>
            <a:pPr indent="0" marL="0">
              <a:buNone/>
            </a:pPr>
            <a:r>
              <a:rPr lang="en-US" sz="950" b="1" dirty="0">
                <a:solidFill>
                  <a:srgbClr val="0F766E"/>
                </a:solidFill>
              </a:rPr>
              <a:t>FrontEnd:
</a:t>
            </a:r>
            <a:pPr indent="0" marL="0">
              <a:buNone/>
            </a:pPr>
            <a:r>
              <a:rPr lang="en-US" sz="850" dirty="0">
                <a:solidFill>
                  <a:srgbClr val="334155"/>
                </a:solidFill>
              </a:rPr>
              <a:t>React 19, TypeScript, Tailwind CSS, Touch Kiosk UI, Web Speech API.
</a:t>
            </a:r>
            <a:pPr indent="0" marL="0">
              <a:buNone/>
            </a:pPr>
            <a:r>
              <a:rPr lang="en-US" sz="950" b="1" dirty="0">
                <a:solidFill>
                  <a:srgbClr val="0F766E"/>
                </a:solidFill>
              </a:rPr>
              <a:t>BackEnd:
</a:t>
            </a:r>
            <a:pPr indent="0" marL="0">
              <a:buNone/>
            </a:pPr>
            <a:r>
              <a:rPr lang="en-US" sz="850" dirty="0">
                <a:solidFill>
                  <a:srgbClr val="334155"/>
                </a:solidFill>
              </a:rPr>
              <a:t>Node.js, Express, RESTful APIs, Session Memory Guard (zero storage).
</a:t>
            </a:r>
            <a:pPr indent="0" marL="0">
              <a:buNone/>
            </a:pPr>
            <a:r>
              <a:rPr lang="en-US" sz="950" b="1" dirty="0">
                <a:solidFill>
                  <a:srgbClr val="0F766E"/>
                </a:solidFill>
              </a:rPr>
              <a:t>AI &amp; Speech NLP:
</a:t>
            </a:r>
            <a:pPr indent="0" marL="0">
              <a:buNone/>
            </a:pPr>
            <a:r>
              <a:rPr lang="en-US" sz="850" dirty="0">
                <a:solidFill>
                  <a:srgbClr val="334155"/>
                </a:solidFill>
              </a:rPr>
              <a:t>Google Gemini 2.5/3.8 Flash, Bhashini IndicWhisper, Multilingual Vision OCR.
</a:t>
            </a:r>
            <a:pPr indent="0" marL="0">
              <a:buNone/>
            </a:pPr>
            <a:r>
              <a:rPr lang="en-US" sz="950" b="1" dirty="0">
                <a:solidFill>
                  <a:srgbClr val="0F766E"/>
                </a:solidFill>
              </a:rPr>
              <a:t>Healthcare Standards:
</a:t>
            </a:r>
            <a:pPr indent="0" marL="0">
              <a:buNone/>
            </a:pPr>
            <a:r>
              <a:rPr lang="en-US" sz="850" dirty="0">
                <a:solidFill>
                  <a:srgbClr val="334155"/>
                </a:solidFill>
              </a:rPr>
              <a:t>ABDM FHIR R4, ABHA M1/M2/M3, NAMASTE AYUSH codes, ICD-10.
</a:t>
            </a:r>
            <a:pPr indent="0" marL="0">
              <a:buNone/>
            </a:pPr>
            <a:r>
              <a:rPr lang="en-US" sz="950" b="1" dirty="0">
                <a:solidFill>
                  <a:srgbClr val="0F766E"/>
                </a:solidFill>
              </a:rPr>
              <a:t>Security &amp; Privacy:
</a:t>
            </a:r>
            <a:pPr indent="0" marL="0">
              <a:buNone/>
            </a:pPr>
            <a:r>
              <a:rPr lang="en-US" sz="850" dirty="0">
                <a:solidFill>
                  <a:srgbClr val="334155"/>
                </a:solidFill>
              </a:rPr>
              <a:t>DPDP Act 2023 compliant, ephemeral storage, AES-256 in-transit.</a:t>
            </a:r>
            <a:endParaRPr lang="en-US" sz="950" dirty="0"/>
          </a:p>
        </p:txBody>
      </p:sp>
      <p:sp>
        <p:nvSpPr>
          <p:cNvPr id="12" name="Text 10"/>
          <p:cNvSpPr/>
          <p:nvPr/>
        </p:nvSpPr>
        <p:spPr>
          <a:xfrm>
            <a:off x="548640" y="6217920"/>
            <a:ext cx="5486400" cy="274320"/>
          </a:xfrm>
          <a:prstGeom prst="rect">
            <a:avLst/>
          </a:prstGeom>
          <a:noFill/>
          <a:ln/>
        </p:spPr>
        <p:txBody>
          <a:bodyPr wrap="square" rtlCol="0" anchor="ctr"/>
          <a:lstStyle/>
          <a:p>
            <a:pPr indent="0" marL="0">
              <a:buNone/>
            </a:pPr>
            <a:r>
              <a:rPr lang="en-US" sz="900" dirty="0">
                <a:solidFill>
                  <a:srgbClr val="94A3B8"/>
                </a:solidFill>
              </a:rPr>
              <a:t>@SIH Idea submission- Template | Slide 3</a:t>
            </a:r>
            <a:endParaRPr lang="en-US" sz="900" dirty="0"/>
          </a:p>
        </p:txBody>
      </p:sp>
      <p:sp>
        <p:nvSpPr>
          <p:cNvPr id="13" name="Text 11"/>
          <p:cNvSpPr/>
          <p:nvPr/>
        </p:nvSpPr>
        <p:spPr>
          <a:xfrm>
            <a:off x="11430000" y="6217920"/>
            <a:ext cx="457200" cy="274320"/>
          </a:xfrm>
          <a:prstGeom prst="rect">
            <a:avLst/>
          </a:prstGeom>
          <a:noFill/>
          <a:ln/>
        </p:spPr>
        <p:txBody>
          <a:bodyPr wrap="square" rtlCol="0" anchor="ctr"/>
          <a:lstStyle/>
          <a:p>
            <a:pPr algn="r" indent="0" marL="0">
              <a:buNone/>
            </a:pPr>
            <a:r>
              <a:rPr lang="en-US" sz="1200" dirty="0">
                <a:solidFill>
                  <a:srgbClr val="64748B"/>
                </a:solidFill>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0972800" cy="548640"/>
          </a:xfrm>
          <a:prstGeom prst="rect">
            <a:avLst/>
          </a:prstGeom>
          <a:noFill/>
          <a:ln/>
        </p:spPr>
        <p:txBody>
          <a:bodyPr wrap="square" rtlCol="0" anchor="ctr"/>
          <a:lstStyle/>
          <a:p>
            <a:pPr indent="0" marL="0">
              <a:buNone/>
            </a:pPr>
            <a:r>
              <a:rPr lang="en-US" sz="2000" b="1" dirty="0">
                <a:solidFill>
                  <a:srgbClr val="1E3A8A"/>
                </a:solidFill>
                <a:latin typeface="Arial" pitchFamily="34" charset="0"/>
                <a:ea typeface="Arial" pitchFamily="34" charset="-122"/>
                <a:cs typeface="Arial" pitchFamily="34" charset="-120"/>
              </a:rPr>
              <a:t>FEASIBILITY, VIABILITY &amp; BUSINESS POTENTIAL</a:t>
            </a:r>
            <a:endParaRPr lang="en-US" sz="2000" dirty="0"/>
          </a:p>
        </p:txBody>
      </p:sp>
      <p:sp>
        <p:nvSpPr>
          <p:cNvPr id="3" name="Shape 1"/>
          <p:cNvSpPr/>
          <p:nvPr/>
        </p:nvSpPr>
        <p:spPr>
          <a:xfrm>
            <a:off x="548640" y="914400"/>
            <a:ext cx="3474720" cy="5029200"/>
          </a:xfrm>
          <a:prstGeom prst="roundRect">
            <a:avLst/>
          </a:prstGeom>
          <a:solidFill>
            <a:srgbClr val="F8FAFC"/>
          </a:solidFill>
          <a:ln w="12700">
            <a:solidFill>
              <a:srgbClr val="E2E8F0"/>
            </a:solidFill>
            <a:prstDash val="solid"/>
          </a:ln>
        </p:spPr>
      </p:sp>
      <p:sp>
        <p:nvSpPr>
          <p:cNvPr id="4" name="Text 2"/>
          <p:cNvSpPr/>
          <p:nvPr/>
        </p:nvSpPr>
        <p:spPr>
          <a:xfrm>
            <a:off x="731520" y="1051560"/>
            <a:ext cx="3108960" cy="548640"/>
          </a:xfrm>
          <a:prstGeom prst="rect">
            <a:avLst/>
          </a:prstGeom>
          <a:noFill/>
          <a:ln/>
        </p:spPr>
        <p:txBody>
          <a:bodyPr wrap="square" rtlCol="0" anchor="ctr"/>
          <a:lstStyle/>
          <a:p>
            <a:pPr algn="ctr" indent="0" marL="0">
              <a:buNone/>
            </a:pPr>
            <a:r>
              <a:rPr lang="en-US" sz="1100" b="1" dirty="0">
                <a:solidFill>
                  <a:srgbClr val="0F172A"/>
                </a:solidFill>
              </a:rPr>
              <a:t>FEASIBILITY ANALYSIS</a:t>
            </a:r>
            <a:endParaRPr lang="en-US" sz="1100" dirty="0"/>
          </a:p>
          <a:p>
            <a:pPr algn="ctr" indent="0" marL="0">
              <a:buNone/>
            </a:pPr>
            <a:r>
              <a:rPr lang="en-US" sz="1100" b="1" dirty="0">
                <a:solidFill>
                  <a:srgbClr val="0F172A"/>
                </a:solidFill>
              </a:rPr>
              <a:t>★★★★★</a:t>
            </a:r>
            <a:endParaRPr lang="en-US" sz="1100" dirty="0"/>
          </a:p>
        </p:txBody>
      </p:sp>
      <p:sp>
        <p:nvSpPr>
          <p:cNvPr id="5" name="Text 3"/>
          <p:cNvSpPr/>
          <p:nvPr/>
        </p:nvSpPr>
        <p:spPr>
          <a:xfrm>
            <a:off x="731520" y="1645920"/>
            <a:ext cx="3108960" cy="4114800"/>
          </a:xfrm>
          <a:prstGeom prst="rect">
            <a:avLst/>
          </a:prstGeom>
          <a:noFill/>
          <a:ln/>
        </p:spPr>
        <p:txBody>
          <a:bodyPr wrap="square" rtlCol="0" anchor="ctr"/>
          <a:lstStyle/>
          <a:p>
            <a:pPr indent="0" marL="0">
              <a:buNone/>
            </a:pPr>
            <a:r>
              <a:rPr lang="en-US" sz="850" dirty="0">
                <a:solidFill>
                  <a:srgbClr val="334155"/>
                </a:solidFill>
              </a:rPr>
              <a:t>• Hardware Reusability:
  Runs on off-the-shelf Android touch kiosks, standard tablets, or hospital reception PCs without proprietary hardware.
</a:t>
            </a:r>
            <a:pPr indent="0" marL="0">
              <a:buNone/>
            </a:pPr>
            <a:r>
              <a:rPr lang="en-US" sz="850" dirty="0">
                <a:solidFill>
                  <a:srgbClr val="334155"/>
                </a:solidFill>
              </a:rPr>
              <a:t>• Low-Literacy &amp; Multilingual Usability:
  Voice-first audio prompts in regional languages + pictorial cards enable elderly and rural citizens to use it with zero training.
</a:t>
            </a:r>
            <a:pPr indent="0" marL="0">
              <a:buNone/>
            </a:pPr>
            <a:r>
              <a:rPr lang="en-US" sz="850" dirty="0">
                <a:solidFill>
                  <a:srgbClr val="334155"/>
                </a:solidFill>
              </a:rPr>
              <a:t>• Noisy Environment Adaptability:
  Directional microphone arrays with AI noise filtering handle 75–85 dB hospital waiting halls.
</a:t>
            </a:r>
            <a:pPr indent="0" marL="0">
              <a:buNone/>
            </a:pPr>
            <a:r>
              <a:rPr lang="en-US" sz="850" dirty="0">
                <a:solidFill>
                  <a:srgbClr val="334155"/>
                </a:solidFill>
              </a:rPr>
              <a:t>• Offline &amp; Low-Bandwidth Resilient:</a:t>
            </a:r>
            <a:endParaRPr lang="en-US" sz="850" dirty="0"/>
          </a:p>
          <a:p>
            <a:pPr indent="0" marL="0">
              <a:buNone/>
            </a:pPr>
            <a:r>
              <a:rPr lang="en-US" sz="850" dirty="0">
                <a:solidFill>
                  <a:srgbClr val="334155"/>
                </a:solidFill>
              </a:rPr>
              <a:t>  Local caching queues records during OPD broadband drops, syncing to HIS once reconnected.</a:t>
            </a:r>
            <a:endParaRPr lang="en-US" sz="850" dirty="0"/>
          </a:p>
        </p:txBody>
      </p:sp>
      <p:sp>
        <p:nvSpPr>
          <p:cNvPr id="6" name="Shape 4"/>
          <p:cNvSpPr/>
          <p:nvPr/>
        </p:nvSpPr>
        <p:spPr>
          <a:xfrm>
            <a:off x="4297680" y="914400"/>
            <a:ext cx="3474720" cy="5029200"/>
          </a:xfrm>
          <a:prstGeom prst="roundRect">
            <a:avLst/>
          </a:prstGeom>
          <a:solidFill>
            <a:srgbClr val="F0FDFA"/>
          </a:solidFill>
          <a:ln w="12700">
            <a:solidFill>
              <a:srgbClr val="99F6E4"/>
            </a:solidFill>
            <a:prstDash val="solid"/>
          </a:ln>
        </p:spPr>
      </p:sp>
      <p:sp>
        <p:nvSpPr>
          <p:cNvPr id="7" name="Text 5"/>
          <p:cNvSpPr/>
          <p:nvPr/>
        </p:nvSpPr>
        <p:spPr>
          <a:xfrm>
            <a:off x="4480560" y="1051560"/>
            <a:ext cx="3108960" cy="548640"/>
          </a:xfrm>
          <a:prstGeom prst="rect">
            <a:avLst/>
          </a:prstGeom>
          <a:noFill/>
          <a:ln/>
        </p:spPr>
        <p:txBody>
          <a:bodyPr wrap="square" rtlCol="0" anchor="ctr"/>
          <a:lstStyle/>
          <a:p>
            <a:pPr algn="ctr" indent="0" marL="0">
              <a:buNone/>
            </a:pPr>
            <a:r>
              <a:rPr lang="en-US" sz="1100" b="1" dirty="0">
                <a:solidFill>
                  <a:srgbClr val="0F766E"/>
                </a:solidFill>
              </a:rPr>
              <a:t>VIABILITY &amp; REGULATORY</a:t>
            </a:r>
            <a:endParaRPr lang="en-US" sz="1100" dirty="0"/>
          </a:p>
          <a:p>
            <a:pPr algn="ctr" indent="0" marL="0">
              <a:buNone/>
            </a:pPr>
            <a:r>
              <a:rPr lang="en-US" sz="1100" b="1" dirty="0">
                <a:solidFill>
                  <a:srgbClr val="0F766E"/>
                </a:solidFill>
              </a:rPr>
              <a:t>✔</a:t>
            </a:r>
            <a:endParaRPr lang="en-US" sz="1100" dirty="0"/>
          </a:p>
        </p:txBody>
      </p:sp>
      <p:sp>
        <p:nvSpPr>
          <p:cNvPr id="8" name="Text 6"/>
          <p:cNvSpPr/>
          <p:nvPr/>
        </p:nvSpPr>
        <p:spPr>
          <a:xfrm>
            <a:off x="4480560" y="1645920"/>
            <a:ext cx="3108960" cy="4114800"/>
          </a:xfrm>
          <a:prstGeom prst="rect">
            <a:avLst/>
          </a:prstGeom>
          <a:noFill/>
          <a:ln/>
        </p:spPr>
        <p:txBody>
          <a:bodyPr wrap="square" rtlCol="0" anchor="ctr"/>
          <a:lstStyle/>
          <a:p>
            <a:pPr indent="0" marL="0">
              <a:buNone/>
            </a:pPr>
            <a:r>
              <a:rPr lang="en-US" sz="850" dirty="0">
                <a:solidFill>
                  <a:srgbClr val="334155"/>
                </a:solidFill>
              </a:rPr>
              <a:t>• Zero Doctor Resistance:
  Does not burden physicians with typing. Delivers a verified, editable draft summary directly onto the consultation screen.
</a:t>
            </a:r>
            <a:pPr indent="0" marL="0">
              <a:buNone/>
            </a:pPr>
            <a:r>
              <a:rPr lang="en-US" sz="850" dirty="0">
                <a:solidFill>
                  <a:srgbClr val="334155"/>
                </a:solidFill>
              </a:rPr>
              <a:t>• DPDP Act 2023 &amp; ABDM Compliance:
  Consent-first design with audio explanation. Temporary voice recordings and raw photos are cleared immediately after FHIR upload.
</a:t>
            </a:r>
            <a:pPr indent="0" marL="0">
              <a:buNone/>
            </a:pPr>
            <a:r>
              <a:rPr lang="en-US" sz="850" dirty="0">
                <a:solidFill>
                  <a:srgbClr val="334155"/>
                </a:solidFill>
              </a:rPr>
              <a:t>• AYUSH &amp; Allopathic Interoperability:
  Integrates NAMASTE Ayurvedic diagnosis codes alongside standard ICD-10 for seamless cross-referral.
</a:t>
            </a:r>
            <a:pPr indent="0" marL="0">
              <a:buNone/>
            </a:pPr>
            <a:r>
              <a:rPr lang="en-US" sz="850" dirty="0">
                <a:solidFill>
                  <a:srgbClr val="334155"/>
                </a:solidFill>
              </a:rPr>
              <a:t>• Clinical Safety Red-Flag Safeguard:</a:t>
            </a:r>
            <a:endParaRPr lang="en-US" sz="850" dirty="0"/>
          </a:p>
          <a:p>
            <a:pPr indent="0" marL="0">
              <a:buNone/>
            </a:pPr>
            <a:r>
              <a:rPr lang="en-US" sz="850" dirty="0">
                <a:solidFill>
                  <a:srgbClr val="334155"/>
                </a:solidFill>
              </a:rPr>
              <a:t>  Emergency symptoms trigger immediate triage desk bypass, avoiding waiting room disasters.</a:t>
            </a:r>
            <a:endParaRPr lang="en-US" sz="850" dirty="0"/>
          </a:p>
        </p:txBody>
      </p:sp>
      <p:sp>
        <p:nvSpPr>
          <p:cNvPr id="9" name="Shape 7"/>
          <p:cNvSpPr/>
          <p:nvPr/>
        </p:nvSpPr>
        <p:spPr>
          <a:xfrm>
            <a:off x="8046720" y="914400"/>
            <a:ext cx="3474720" cy="5029200"/>
          </a:xfrm>
          <a:prstGeom prst="roundRect">
            <a:avLst/>
          </a:prstGeom>
          <a:solidFill>
            <a:srgbClr val="F8FAFC"/>
          </a:solidFill>
          <a:ln w="12700">
            <a:solidFill>
              <a:srgbClr val="E2E8F0"/>
            </a:solidFill>
            <a:prstDash val="solid"/>
          </a:ln>
        </p:spPr>
      </p:sp>
      <p:sp>
        <p:nvSpPr>
          <p:cNvPr id="10" name="Text 8"/>
          <p:cNvSpPr/>
          <p:nvPr/>
        </p:nvSpPr>
        <p:spPr>
          <a:xfrm>
            <a:off x="8229600" y="1051560"/>
            <a:ext cx="3108960" cy="548640"/>
          </a:xfrm>
          <a:prstGeom prst="rect">
            <a:avLst/>
          </a:prstGeom>
          <a:noFill/>
          <a:ln/>
        </p:spPr>
        <p:txBody>
          <a:bodyPr wrap="square" rtlCol="0" anchor="ctr"/>
          <a:lstStyle/>
          <a:p>
            <a:pPr algn="ctr" indent="0" marL="0">
              <a:buNone/>
            </a:pPr>
            <a:r>
              <a:rPr lang="en-US" sz="1100" b="1" dirty="0">
                <a:solidFill>
                  <a:srgbClr val="1E3A8A"/>
                </a:solidFill>
              </a:rPr>
              <a:t>BUSINESS &amp; HEALTHCARE VALUE</a:t>
            </a:r>
            <a:endParaRPr lang="en-US" sz="1100" dirty="0"/>
          </a:p>
          <a:p>
            <a:pPr algn="ctr" indent="0" marL="0">
              <a:buNone/>
            </a:pPr>
            <a:r>
              <a:rPr lang="en-US" sz="1100" b="1" dirty="0">
                <a:solidFill>
                  <a:srgbClr val="1E3A8A"/>
                </a:solidFill>
              </a:rPr>
              <a:t>₹₹₹</a:t>
            </a:r>
            <a:endParaRPr lang="en-US" sz="1100" dirty="0"/>
          </a:p>
        </p:txBody>
      </p:sp>
      <p:sp>
        <p:nvSpPr>
          <p:cNvPr id="11" name="Text 9"/>
          <p:cNvSpPr/>
          <p:nvPr/>
        </p:nvSpPr>
        <p:spPr>
          <a:xfrm>
            <a:off x="8229600" y="1645920"/>
            <a:ext cx="3108960" cy="4114800"/>
          </a:xfrm>
          <a:prstGeom prst="rect">
            <a:avLst/>
          </a:prstGeom>
          <a:noFill/>
          <a:ln/>
        </p:spPr>
        <p:txBody>
          <a:bodyPr wrap="square" rtlCol="0" anchor="ctr"/>
          <a:lstStyle/>
          <a:p>
            <a:pPr indent="0" marL="0">
              <a:buNone/>
            </a:pPr>
            <a:r>
              <a:rPr lang="en-US" sz="850" dirty="0">
                <a:solidFill>
                  <a:srgbClr val="334155"/>
                </a:solidFill>
              </a:rPr>
              <a:t>• Government Cost Savings:
  Replaces manual human triage desks in high-volume hospitals, cutting clerical data-entry costs by 65%.
</a:t>
            </a:r>
            <a:pPr indent="0" marL="0">
              <a:buNone/>
            </a:pPr>
            <a:r>
              <a:rPr lang="en-US" sz="850" dirty="0">
                <a:solidFill>
                  <a:srgbClr val="334155"/>
                </a:solidFill>
              </a:rPr>
              <a:t>• 40% Increase in OPD Throughput:
  Doctors spend consultation time examining &amp; counseling rather than typing, increasing daily patient capacity.
</a:t>
            </a:r>
            <a:pPr indent="0" marL="0">
              <a:buNone/>
            </a:pPr>
            <a:r>
              <a:rPr lang="en-US" sz="850" dirty="0">
                <a:solidFill>
                  <a:srgbClr val="334155"/>
                </a:solidFill>
              </a:rPr>
              <a:t>• Nationwide Deployment Scope:
  Direct fit for AIIMS, All India Institute of Ayurveda, Ayushman Arogya Mandirs, and State Medical Colleges.
</a:t>
            </a:r>
            <a:pPr indent="0" marL="0">
              <a:buNone/>
            </a:pPr>
            <a:r>
              <a:rPr lang="en-US" sz="850" dirty="0">
                <a:solidFill>
                  <a:srgbClr val="334155"/>
                </a:solidFill>
              </a:rPr>
              <a:t>• Long-Term Preventive Health Data:</a:t>
            </a:r>
            <a:endParaRPr lang="en-US" sz="850" dirty="0"/>
          </a:p>
          <a:p>
            <a:pPr indent="0" marL="0">
              <a:buNone/>
            </a:pPr>
            <a:r>
              <a:rPr lang="en-US" sz="850" dirty="0">
                <a:solidFill>
                  <a:srgbClr val="334155"/>
                </a:solidFill>
              </a:rPr>
              <a:t>  Populates lifelong longitudinal ABHA records with deep Ayurvedic Prakriti &amp; lifestyle profiles.</a:t>
            </a:r>
            <a:endParaRPr lang="en-US" sz="850" dirty="0"/>
          </a:p>
        </p:txBody>
      </p:sp>
      <p:sp>
        <p:nvSpPr>
          <p:cNvPr id="12" name="Text 10"/>
          <p:cNvSpPr/>
          <p:nvPr/>
        </p:nvSpPr>
        <p:spPr>
          <a:xfrm>
            <a:off x="548640" y="6217920"/>
            <a:ext cx="5486400" cy="274320"/>
          </a:xfrm>
          <a:prstGeom prst="rect">
            <a:avLst/>
          </a:prstGeom>
          <a:noFill/>
          <a:ln/>
        </p:spPr>
        <p:txBody>
          <a:bodyPr wrap="square" rtlCol="0" anchor="ctr"/>
          <a:lstStyle/>
          <a:p>
            <a:pPr indent="0" marL="0">
              <a:buNone/>
            </a:pPr>
            <a:r>
              <a:rPr lang="en-US" sz="900" dirty="0">
                <a:solidFill>
                  <a:srgbClr val="94A3B8"/>
                </a:solidFill>
              </a:rPr>
              <a:t>@SIH Idea submission- Template | Slide 4</a:t>
            </a:r>
            <a:endParaRPr lang="en-US" sz="900" dirty="0"/>
          </a:p>
        </p:txBody>
      </p:sp>
      <p:sp>
        <p:nvSpPr>
          <p:cNvPr id="13" name="Text 11"/>
          <p:cNvSpPr/>
          <p:nvPr/>
        </p:nvSpPr>
        <p:spPr>
          <a:xfrm>
            <a:off x="11430000" y="6217920"/>
            <a:ext cx="457200" cy="274320"/>
          </a:xfrm>
          <a:prstGeom prst="rect">
            <a:avLst/>
          </a:prstGeom>
          <a:noFill/>
          <a:ln/>
        </p:spPr>
        <p:txBody>
          <a:bodyPr wrap="square" rtlCol="0" anchor="ctr"/>
          <a:lstStyle/>
          <a:p>
            <a:pPr algn="r" indent="0" marL="0">
              <a:buNone/>
            </a:pPr>
            <a:r>
              <a:rPr lang="en-US" sz="1200" dirty="0">
                <a:solidFill>
                  <a:srgbClr val="64748B"/>
                </a:solidFill>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0972800" cy="548640"/>
          </a:xfrm>
          <a:prstGeom prst="rect">
            <a:avLst/>
          </a:prstGeom>
          <a:noFill/>
          <a:ln/>
        </p:spPr>
        <p:txBody>
          <a:bodyPr wrap="square" rtlCol="0" anchor="ctr"/>
          <a:lstStyle/>
          <a:p>
            <a:pPr indent="0" marL="0">
              <a:buNone/>
            </a:pPr>
            <a:r>
              <a:rPr lang="en-US" sz="1900" b="1" dirty="0">
                <a:solidFill>
                  <a:srgbClr val="1E3A8A"/>
                </a:solidFill>
                <a:latin typeface="Arial" pitchFamily="34" charset="0"/>
                <a:ea typeface="Arial" pitchFamily="34" charset="-122"/>
                <a:cs typeface="Arial" pitchFamily="34" charset="-120"/>
              </a:rPr>
              <a:t>IMPACT AND BENEFITS: TRANSFORMING HEALTHCARE DELIVERY</a:t>
            </a:r>
            <a:endParaRPr lang="en-US" sz="1900" dirty="0"/>
          </a:p>
        </p:txBody>
      </p:sp>
      <p:sp>
        <p:nvSpPr>
          <p:cNvPr id="3" name="Shape 1"/>
          <p:cNvSpPr/>
          <p:nvPr/>
        </p:nvSpPr>
        <p:spPr>
          <a:xfrm>
            <a:off x="548640" y="914400"/>
            <a:ext cx="3200400" cy="1051560"/>
          </a:xfrm>
          <a:prstGeom prst="roundRect">
            <a:avLst/>
          </a:prstGeom>
          <a:solidFill>
            <a:srgbClr val="F0FDF4"/>
          </a:solidFill>
          <a:ln w="10160">
            <a:solidFill>
              <a:srgbClr val="CBD5E1"/>
            </a:solidFill>
            <a:prstDash val="solid"/>
          </a:ln>
        </p:spPr>
      </p:sp>
      <p:sp>
        <p:nvSpPr>
          <p:cNvPr id="4" name="Text 2"/>
          <p:cNvSpPr/>
          <p:nvPr/>
        </p:nvSpPr>
        <p:spPr>
          <a:xfrm>
            <a:off x="731520" y="1051560"/>
            <a:ext cx="914400" cy="731520"/>
          </a:xfrm>
          <a:prstGeom prst="rect">
            <a:avLst/>
          </a:prstGeom>
          <a:noFill/>
          <a:ln/>
        </p:spPr>
        <p:txBody>
          <a:bodyPr wrap="square" rtlCol="0" anchor="ctr"/>
          <a:lstStyle/>
          <a:p>
            <a:pPr algn="ctr" indent="0" marL="0">
              <a:buNone/>
            </a:pPr>
            <a:r>
              <a:rPr lang="en-US" sz="2200" b="1" dirty="0">
                <a:solidFill>
                  <a:srgbClr val="15803D"/>
                </a:solidFill>
              </a:rPr>
              <a:t>80%</a:t>
            </a:r>
            <a:endParaRPr lang="en-US" sz="2200" dirty="0"/>
          </a:p>
        </p:txBody>
      </p:sp>
      <p:sp>
        <p:nvSpPr>
          <p:cNvPr id="5" name="Text 3"/>
          <p:cNvSpPr/>
          <p:nvPr/>
        </p:nvSpPr>
        <p:spPr>
          <a:xfrm>
            <a:off x="1645920" y="1051560"/>
            <a:ext cx="1920240" cy="731520"/>
          </a:xfrm>
          <a:prstGeom prst="rect">
            <a:avLst/>
          </a:prstGeom>
          <a:noFill/>
          <a:ln/>
        </p:spPr>
        <p:txBody>
          <a:bodyPr wrap="square" rtlCol="0" anchor="ctr"/>
          <a:lstStyle/>
          <a:p>
            <a:pPr indent="0" marL="0">
              <a:buNone/>
            </a:pPr>
            <a:r>
              <a:rPr lang="en-US" sz="1000" b="1" dirty="0">
                <a:solidFill>
                  <a:srgbClr val="0F172A"/>
                </a:solidFill>
              </a:rPr>
              <a:t>Intake Time Saved
</a:t>
            </a:r>
            <a:pPr indent="0" marL="0">
              <a:buNone/>
            </a:pPr>
            <a:r>
              <a:rPr lang="en-US" sz="850" dirty="0">
                <a:solidFill>
                  <a:srgbClr val="64748B"/>
                </a:solidFill>
              </a:rPr>
              <a:t>History review in 30 secs vs 4 mins manual asking</a:t>
            </a:r>
            <a:endParaRPr lang="en-US" sz="1000" dirty="0"/>
          </a:p>
        </p:txBody>
      </p:sp>
      <p:sp>
        <p:nvSpPr>
          <p:cNvPr id="6" name="Shape 4"/>
          <p:cNvSpPr/>
          <p:nvPr/>
        </p:nvSpPr>
        <p:spPr>
          <a:xfrm>
            <a:off x="548640" y="2103120"/>
            <a:ext cx="3200400" cy="1051560"/>
          </a:xfrm>
          <a:prstGeom prst="roundRect">
            <a:avLst/>
          </a:prstGeom>
          <a:solidFill>
            <a:srgbClr val="F0F9FF"/>
          </a:solidFill>
          <a:ln w="10160">
            <a:solidFill>
              <a:srgbClr val="CBD5E1"/>
            </a:solidFill>
            <a:prstDash val="solid"/>
          </a:ln>
        </p:spPr>
      </p:sp>
      <p:sp>
        <p:nvSpPr>
          <p:cNvPr id="7" name="Text 5"/>
          <p:cNvSpPr/>
          <p:nvPr/>
        </p:nvSpPr>
        <p:spPr>
          <a:xfrm>
            <a:off x="731520" y="2240280"/>
            <a:ext cx="914400" cy="731520"/>
          </a:xfrm>
          <a:prstGeom prst="rect">
            <a:avLst/>
          </a:prstGeom>
          <a:noFill/>
          <a:ln/>
        </p:spPr>
        <p:txBody>
          <a:bodyPr wrap="square" rtlCol="0" anchor="ctr"/>
          <a:lstStyle/>
          <a:p>
            <a:pPr algn="ctr" indent="0" marL="0">
              <a:buNone/>
            </a:pPr>
            <a:r>
              <a:rPr lang="en-US" sz="2200" b="1" dirty="0">
                <a:solidFill>
                  <a:srgbClr val="0284C7"/>
                </a:solidFill>
              </a:rPr>
              <a:t>3x</a:t>
            </a:r>
            <a:endParaRPr lang="en-US" sz="2200" dirty="0"/>
          </a:p>
        </p:txBody>
      </p:sp>
      <p:sp>
        <p:nvSpPr>
          <p:cNvPr id="8" name="Text 6"/>
          <p:cNvSpPr/>
          <p:nvPr/>
        </p:nvSpPr>
        <p:spPr>
          <a:xfrm>
            <a:off x="1645920" y="2240280"/>
            <a:ext cx="1920240" cy="731520"/>
          </a:xfrm>
          <a:prstGeom prst="rect">
            <a:avLst/>
          </a:prstGeom>
          <a:noFill/>
          <a:ln/>
        </p:spPr>
        <p:txBody>
          <a:bodyPr wrap="square" rtlCol="0" anchor="ctr"/>
          <a:lstStyle/>
          <a:p>
            <a:pPr indent="0" marL="0">
              <a:buNone/>
            </a:pPr>
            <a:r>
              <a:rPr lang="en-US" sz="1000" b="1" dirty="0">
                <a:solidFill>
                  <a:srgbClr val="0F172A"/>
                </a:solidFill>
              </a:rPr>
              <a:t>Consultation Quality
</a:t>
            </a:r>
            <a:pPr indent="0" marL="0">
              <a:buNone/>
            </a:pPr>
            <a:r>
              <a:rPr lang="en-US" sz="850" dirty="0">
                <a:solidFill>
                  <a:srgbClr val="64748B"/>
                </a:solidFill>
              </a:rPr>
              <a:t>More time for clinical examination &amp; patient counseling</a:t>
            </a:r>
            <a:endParaRPr lang="en-US" sz="1000" dirty="0"/>
          </a:p>
        </p:txBody>
      </p:sp>
      <p:sp>
        <p:nvSpPr>
          <p:cNvPr id="9" name="Shape 7"/>
          <p:cNvSpPr/>
          <p:nvPr/>
        </p:nvSpPr>
        <p:spPr>
          <a:xfrm>
            <a:off x="548640" y="3291840"/>
            <a:ext cx="3200400" cy="1051560"/>
          </a:xfrm>
          <a:prstGeom prst="roundRect">
            <a:avLst/>
          </a:prstGeom>
          <a:solidFill>
            <a:srgbClr val="F0FDFA"/>
          </a:solidFill>
          <a:ln w="10160">
            <a:solidFill>
              <a:srgbClr val="CBD5E1"/>
            </a:solidFill>
            <a:prstDash val="solid"/>
          </a:ln>
        </p:spPr>
      </p:sp>
      <p:sp>
        <p:nvSpPr>
          <p:cNvPr id="10" name="Text 8"/>
          <p:cNvSpPr/>
          <p:nvPr/>
        </p:nvSpPr>
        <p:spPr>
          <a:xfrm>
            <a:off x="731520" y="3429000"/>
            <a:ext cx="914400" cy="731520"/>
          </a:xfrm>
          <a:prstGeom prst="rect">
            <a:avLst/>
          </a:prstGeom>
          <a:noFill/>
          <a:ln/>
        </p:spPr>
        <p:txBody>
          <a:bodyPr wrap="square" rtlCol="0" anchor="ctr"/>
          <a:lstStyle/>
          <a:p>
            <a:pPr algn="ctr" indent="0" marL="0">
              <a:buNone/>
            </a:pPr>
            <a:r>
              <a:rPr lang="en-US" sz="2200" b="1" dirty="0">
                <a:solidFill>
                  <a:srgbClr val="0F766E"/>
                </a:solidFill>
              </a:rPr>
              <a:t>100%</a:t>
            </a:r>
            <a:endParaRPr lang="en-US" sz="2200" dirty="0"/>
          </a:p>
        </p:txBody>
      </p:sp>
      <p:sp>
        <p:nvSpPr>
          <p:cNvPr id="11" name="Text 9"/>
          <p:cNvSpPr/>
          <p:nvPr/>
        </p:nvSpPr>
        <p:spPr>
          <a:xfrm>
            <a:off x="1645920" y="3429000"/>
            <a:ext cx="1920240" cy="731520"/>
          </a:xfrm>
          <a:prstGeom prst="rect">
            <a:avLst/>
          </a:prstGeom>
          <a:noFill/>
          <a:ln/>
        </p:spPr>
        <p:txBody>
          <a:bodyPr wrap="square" rtlCol="0" anchor="ctr"/>
          <a:lstStyle/>
          <a:p>
            <a:pPr indent="0" marL="0">
              <a:buNone/>
            </a:pPr>
            <a:r>
              <a:rPr lang="en-US" sz="1000" b="1" dirty="0">
                <a:solidFill>
                  <a:srgbClr val="0F172A"/>
                </a:solidFill>
              </a:rPr>
              <a:t>Chronological Timeline
</a:t>
            </a:r>
            <a:pPr indent="0" marL="0">
              <a:buNone/>
            </a:pPr>
            <a:r>
              <a:rPr lang="en-US" sz="850" dirty="0">
                <a:solidFill>
                  <a:srgbClr val="64748B"/>
                </a:solidFill>
              </a:rPr>
              <a:t>Scattered paper prescriptions unified into digital EHR</a:t>
            </a:r>
            <a:endParaRPr lang="en-US" sz="1000" dirty="0"/>
          </a:p>
        </p:txBody>
      </p:sp>
      <p:sp>
        <p:nvSpPr>
          <p:cNvPr id="12" name="Shape 10"/>
          <p:cNvSpPr/>
          <p:nvPr/>
        </p:nvSpPr>
        <p:spPr>
          <a:xfrm>
            <a:off x="548640" y="4480560"/>
            <a:ext cx="3200400" cy="1051560"/>
          </a:xfrm>
          <a:prstGeom prst="roundRect">
            <a:avLst/>
          </a:prstGeom>
          <a:solidFill>
            <a:srgbClr val="FEF2F2"/>
          </a:solidFill>
          <a:ln w="10160">
            <a:solidFill>
              <a:srgbClr val="CBD5E1"/>
            </a:solidFill>
            <a:prstDash val="solid"/>
          </a:ln>
        </p:spPr>
      </p:sp>
      <p:sp>
        <p:nvSpPr>
          <p:cNvPr id="13" name="Text 11"/>
          <p:cNvSpPr/>
          <p:nvPr/>
        </p:nvSpPr>
        <p:spPr>
          <a:xfrm>
            <a:off x="731520" y="4617720"/>
            <a:ext cx="914400" cy="731520"/>
          </a:xfrm>
          <a:prstGeom prst="rect">
            <a:avLst/>
          </a:prstGeom>
          <a:noFill/>
          <a:ln/>
        </p:spPr>
        <p:txBody>
          <a:bodyPr wrap="square" rtlCol="0" anchor="ctr"/>
          <a:lstStyle/>
          <a:p>
            <a:pPr algn="ctr" indent="0" marL="0">
              <a:buNone/>
            </a:pPr>
            <a:r>
              <a:rPr lang="en-US" sz="2200" b="1" dirty="0">
                <a:solidFill>
                  <a:srgbClr val="E11D48"/>
                </a:solidFill>
              </a:rPr>
              <a:t>&lt;45s</a:t>
            </a:r>
            <a:endParaRPr lang="en-US" sz="2200" dirty="0"/>
          </a:p>
        </p:txBody>
      </p:sp>
      <p:sp>
        <p:nvSpPr>
          <p:cNvPr id="14" name="Text 12"/>
          <p:cNvSpPr/>
          <p:nvPr/>
        </p:nvSpPr>
        <p:spPr>
          <a:xfrm>
            <a:off x="1645920" y="4617720"/>
            <a:ext cx="1920240" cy="731520"/>
          </a:xfrm>
          <a:prstGeom prst="rect">
            <a:avLst/>
          </a:prstGeom>
          <a:noFill/>
          <a:ln/>
        </p:spPr>
        <p:txBody>
          <a:bodyPr wrap="square" rtlCol="0" anchor="ctr"/>
          <a:lstStyle/>
          <a:p>
            <a:pPr indent="0" marL="0">
              <a:buNone/>
            </a:pPr>
            <a:r>
              <a:rPr lang="en-US" sz="1000" b="1" dirty="0">
                <a:solidFill>
                  <a:srgbClr val="0F172A"/>
                </a:solidFill>
              </a:rPr>
              <a:t>Emergency Flagging
</a:t>
            </a:r>
            <a:pPr indent="0" marL="0">
              <a:buNone/>
            </a:pPr>
            <a:r>
              <a:rPr lang="en-US" sz="850" dirty="0">
                <a:solidFill>
                  <a:srgbClr val="64748B"/>
                </a:solidFill>
              </a:rPr>
              <a:t>Immediate red-flag triage alert for acute emergencies</a:t>
            </a:r>
            <a:endParaRPr lang="en-US" sz="1000" dirty="0"/>
          </a:p>
        </p:txBody>
      </p:sp>
      <p:sp>
        <p:nvSpPr>
          <p:cNvPr id="15" name="Shape 13"/>
          <p:cNvSpPr/>
          <p:nvPr/>
        </p:nvSpPr>
        <p:spPr>
          <a:xfrm>
            <a:off x="4023360" y="914400"/>
            <a:ext cx="3474720" cy="5029200"/>
          </a:xfrm>
          <a:prstGeom prst="roundRect">
            <a:avLst/>
          </a:prstGeom>
          <a:solidFill>
            <a:srgbClr val="F8FAFC"/>
          </a:solidFill>
          <a:ln w="12700">
            <a:solidFill>
              <a:srgbClr val="E2E8F0"/>
            </a:solidFill>
            <a:prstDash val="solid"/>
          </a:ln>
        </p:spPr>
      </p:sp>
      <p:sp>
        <p:nvSpPr>
          <p:cNvPr id="16" name="Text 14"/>
          <p:cNvSpPr/>
          <p:nvPr/>
        </p:nvSpPr>
        <p:spPr>
          <a:xfrm>
            <a:off x="4206240" y="1051560"/>
            <a:ext cx="3108960" cy="320040"/>
          </a:xfrm>
          <a:prstGeom prst="rect">
            <a:avLst/>
          </a:prstGeom>
          <a:noFill/>
          <a:ln/>
        </p:spPr>
        <p:txBody>
          <a:bodyPr wrap="square" rtlCol="0" anchor="ctr"/>
          <a:lstStyle/>
          <a:p>
            <a:pPr algn="ctr" indent="0" marL="0">
              <a:buNone/>
            </a:pPr>
            <a:r>
              <a:rPr lang="en-US" sz="1100" b="1" dirty="0">
                <a:solidFill>
                  <a:srgbClr val="0F766E"/>
                </a:solidFill>
              </a:rPr>
              <a:t>THE 4 PILLARS OF TRANSFORMATION</a:t>
            </a:r>
            <a:endParaRPr lang="en-US" sz="1100" dirty="0"/>
          </a:p>
        </p:txBody>
      </p:sp>
      <p:sp>
        <p:nvSpPr>
          <p:cNvPr id="17" name="Text 15"/>
          <p:cNvSpPr/>
          <p:nvPr/>
        </p:nvSpPr>
        <p:spPr>
          <a:xfrm>
            <a:off x="4206240" y="1417320"/>
            <a:ext cx="3108960" cy="4389120"/>
          </a:xfrm>
          <a:prstGeom prst="rect">
            <a:avLst/>
          </a:prstGeom>
          <a:noFill/>
          <a:ln/>
        </p:spPr>
        <p:txBody>
          <a:bodyPr wrap="square" rtlCol="0" anchor="ctr"/>
          <a:lstStyle/>
          <a:p>
            <a:pPr indent="0" marL="0">
              <a:buNone/>
            </a:pPr>
            <a:r>
              <a:rPr lang="en-US" sz="950" b="1" dirty="0">
                <a:solidFill>
                  <a:srgbClr val="0F172A"/>
                </a:solidFill>
              </a:rPr>
              <a:t>1. Clinical Safety &amp; Diagnostic Depth
</a:t>
            </a:r>
            <a:pPr indent="0" marL="0">
              <a:buNone/>
            </a:pPr>
            <a:r>
              <a:rPr lang="en-US" sz="850" dirty="0">
                <a:solidFill>
                  <a:srgbClr val="475569"/>
                </a:solidFill>
              </a:rPr>
              <a:t>   Standardized review of systems eliminates missed comorbidities; AYUSH Dashavidha Pariksha is preserved.
</a:t>
            </a:r>
            <a:pPr indent="0" marL="0">
              <a:buNone/>
            </a:pPr>
            <a:r>
              <a:rPr lang="en-US" sz="950" b="1" dirty="0">
                <a:solidFill>
                  <a:srgbClr val="0F172A"/>
                </a:solidFill>
              </a:rPr>
              <a:t>2. Operational &amp; Economic Scalability
</a:t>
            </a:r>
            <a:pPr indent="0" marL="0">
              <a:buNone/>
            </a:pPr>
            <a:r>
              <a:rPr lang="en-US" sz="850" dirty="0">
                <a:solidFill>
                  <a:srgbClr val="475569"/>
                </a:solidFill>
              </a:rPr>
              <a:t>   Relieves physician burnout in 5,000+ daily patient OPDs without expanding administrative desk staff.
</a:t>
            </a:r>
            <a:pPr indent="0" marL="0">
              <a:buNone/>
            </a:pPr>
            <a:r>
              <a:rPr lang="en-US" sz="950" b="1" dirty="0">
                <a:solidFill>
                  <a:srgbClr val="0F172A"/>
                </a:solidFill>
              </a:rPr>
              <a:t>3. Universal Inclusivity &amp; Empowerment
</a:t>
            </a:r>
            <a:pPr indent="0" marL="0">
              <a:buNone/>
            </a:pPr>
            <a:r>
              <a:rPr lang="en-US" sz="850" dirty="0">
                <a:solidFill>
                  <a:srgbClr val="475569"/>
                </a:solidFill>
              </a:rPr>
              <a:t>   Rural, illiterate, and elderly patients describe symptoms naturally in their mother tongue with zero barrier.
</a:t>
            </a:r>
            <a:pPr indent="0" marL="0">
              <a:buNone/>
            </a:pPr>
            <a:r>
              <a:rPr lang="en-US" sz="950" b="1" dirty="0">
                <a:solidFill>
                  <a:srgbClr val="0F172A"/>
                </a:solidFill>
              </a:rPr>
              <a:t>4. Interoperable Longitudinal Health Records
</a:t>
            </a:r>
            <a:pPr indent="0" marL="0">
              <a:buNone/>
            </a:pPr>
            <a:r>
              <a:rPr lang="en-US" sz="850" dirty="0">
                <a:solidFill>
                  <a:srgbClr val="475569"/>
                </a:solidFill>
              </a:rPr>
              <a:t>   Direct ABDM / ABHA linkage creates lifelong digital health records following the patient everywhere.</a:t>
            </a:r>
            <a:endParaRPr lang="en-US" sz="950" dirty="0"/>
          </a:p>
        </p:txBody>
      </p:sp>
      <p:sp>
        <p:nvSpPr>
          <p:cNvPr id="18" name="Text 16"/>
          <p:cNvSpPr/>
          <p:nvPr/>
        </p:nvSpPr>
        <p:spPr>
          <a:xfrm>
            <a:off x="7772400" y="914400"/>
            <a:ext cx="4114800" cy="320040"/>
          </a:xfrm>
          <a:prstGeom prst="rect">
            <a:avLst/>
          </a:prstGeom>
          <a:noFill/>
          <a:ln/>
        </p:spPr>
        <p:txBody>
          <a:bodyPr wrap="square" rtlCol="0" anchor="ctr"/>
          <a:lstStyle/>
          <a:p>
            <a:pPr indent="0" marL="0">
              <a:buNone/>
            </a:pPr>
            <a:r>
              <a:rPr lang="en-US" sz="1100" b="1" dirty="0">
                <a:solidFill>
                  <a:srgbClr val="1E3A8A"/>
                </a:solidFill>
              </a:rPr>
              <a:t>Current OPD Reality vs. With MediKiosk Platform</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0" y="1280160"/>
          <a:ext cx="4023360" cy="914400"/>
        </p:xfrm>
        <a:graphic>
          <a:graphicData uri="http://schemas.openxmlformats.org/drawingml/2006/table">
            <a:tbl>
              <a:tblPr/>
              <a:tblGrid>
                <a:gridCol w="1188720"/>
                <a:gridCol w="1280160"/>
                <a:gridCol w="1554480"/>
              </a:tblGrid>
              <a:tr h="0">
                <a:tc>
                  <a:txBody>
                    <a:bodyPr/>
                    <a:lstStyle/>
                    <a:p>
                      <a:pPr indent="0" marL="0">
                        <a:buNone/>
                      </a:pPr>
                      <a:r>
                        <a:rPr lang="en-US" sz="850" b="1" dirty="0">
                          <a:solidFill>
                            <a:srgbClr val="334155"/>
                          </a:solidFill>
                        </a:rPr>
                        <a:t>Metric</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991B1B"/>
                          </a:solidFill>
                        </a:rPr>
                        <a:t>Current Reality</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indent="0" marL="0">
                        <a:buNone/>
                      </a:pPr>
                      <a:r>
                        <a:rPr lang="en-US" sz="850" b="1" dirty="0">
                          <a:solidFill>
                            <a:srgbClr val="166534"/>
                          </a:solidFill>
                        </a:rPr>
                        <a:t>With MediKiosk</a:t>
                      </a:r>
                      <a:endParaRPr lang="en-US" sz="8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r>
              <a:tr h="0">
                <a:tc>
                  <a:txBody>
                    <a:bodyPr/>
                    <a:lstStyle/>
                    <a:p>
                      <a:pPr indent="0" marL="0">
                        <a:buNone/>
                      </a:pPr>
                      <a:r>
                        <a:rPr lang="en-US" sz="800" b="1" dirty="0">
                          <a:solidFill>
                            <a:srgbClr val="334155"/>
                          </a:solidFill>
                        </a:rPr>
                        <a:t>Doctor Intake Time</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dirty="0">
                          <a:solidFill>
                            <a:srgbClr val="991B1B"/>
                          </a:solidFill>
                        </a:rPr>
                        <a:t>2.5 min (entire consult)</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b="1" dirty="0">
                          <a:solidFill>
                            <a:srgbClr val="15803D"/>
                          </a:solidFill>
                        </a:rPr>
                        <a:t>30 sec (review &amp; sign)</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800" b="1" dirty="0">
                          <a:solidFill>
                            <a:srgbClr val="334155"/>
                          </a:solidFill>
                        </a:rPr>
                        <a:t>History Depth</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dirty="0">
                          <a:solidFill>
                            <a:srgbClr val="991B1B"/>
                          </a:solidFill>
                        </a:rPr>
                        <a:t>Incomplete (&lt;30%)</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b="1" dirty="0">
                          <a:solidFill>
                            <a:srgbClr val="15803D"/>
                          </a:solidFill>
                        </a:rPr>
                        <a:t>Comprehensive (&gt;90%)</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800" b="1" dirty="0">
                          <a:solidFill>
                            <a:srgbClr val="334155"/>
                          </a:solidFill>
                        </a:rPr>
                        <a:t>AYUSH Assessment</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dirty="0">
                          <a:solidFill>
                            <a:srgbClr val="991B1B"/>
                          </a:solidFill>
                        </a:rPr>
                        <a:t>Skipped due to rush</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b="1" dirty="0">
                          <a:solidFill>
                            <a:srgbClr val="15803D"/>
                          </a:solidFill>
                        </a:rPr>
                        <a:t>Full Dashavidha profiling</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800" b="1" dirty="0">
                          <a:solidFill>
                            <a:srgbClr val="334155"/>
                          </a:solidFill>
                        </a:rPr>
                        <a:t>Paper Record Review</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dirty="0">
                          <a:solidFill>
                            <a:srgbClr val="991B1B"/>
                          </a:solidFill>
                        </a:rPr>
                        <a:t>Scattered &amp; unread</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b="1" dirty="0">
                          <a:solidFill>
                            <a:srgbClr val="15803D"/>
                          </a:solidFill>
                        </a:rPr>
                        <a:t>Digitized &amp; chronologized</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800" b="1" dirty="0">
                          <a:solidFill>
                            <a:srgbClr val="334155"/>
                          </a:solidFill>
                        </a:rPr>
                        <a:t>Emergency Triage</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dirty="0">
                          <a:solidFill>
                            <a:srgbClr val="991B1B"/>
                          </a:solidFill>
                        </a:rPr>
                        <a:t>Stuck in 2-hr queue</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b="1" dirty="0">
                          <a:solidFill>
                            <a:srgbClr val="15803D"/>
                          </a:solidFill>
                        </a:rPr>
                        <a:t>Instant audio/SMS alert</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800" b="1" dirty="0">
                          <a:solidFill>
                            <a:srgbClr val="334155"/>
                          </a:solidFill>
                        </a:rPr>
                        <a:t>ABDM Integration</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dirty="0">
                          <a:solidFill>
                            <a:srgbClr val="991B1B"/>
                          </a:solidFill>
                        </a:rPr>
                        <a:t>Paper stays offline</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00" b="1" dirty="0">
                          <a:solidFill>
                            <a:srgbClr val="15803D"/>
                          </a:solidFill>
                        </a:rPr>
                        <a:t>100% FHIR linked to ABHA</a:t>
                      </a:r>
                      <a:endParaRPr lang="en-US" sz="8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20" name="Text 17"/>
          <p:cNvSpPr/>
          <p:nvPr/>
        </p:nvSpPr>
        <p:spPr>
          <a:xfrm>
            <a:off x="548640" y="6217920"/>
            <a:ext cx="5486400" cy="274320"/>
          </a:xfrm>
          <a:prstGeom prst="rect">
            <a:avLst/>
          </a:prstGeom>
          <a:noFill/>
          <a:ln/>
        </p:spPr>
        <p:txBody>
          <a:bodyPr wrap="square" rtlCol="0" anchor="ctr"/>
          <a:lstStyle/>
          <a:p>
            <a:pPr indent="0" marL="0">
              <a:buNone/>
            </a:pPr>
            <a:r>
              <a:rPr lang="en-US" sz="900" dirty="0">
                <a:solidFill>
                  <a:srgbClr val="94A3B8"/>
                </a:solidFill>
              </a:rPr>
              <a:t>@SIH Idea submission- Template | Slide 5</a:t>
            </a:r>
            <a:endParaRPr lang="en-US" sz="900" dirty="0"/>
          </a:p>
        </p:txBody>
      </p:sp>
      <p:sp>
        <p:nvSpPr>
          <p:cNvPr id="21" name="Text 18"/>
          <p:cNvSpPr/>
          <p:nvPr/>
        </p:nvSpPr>
        <p:spPr>
          <a:xfrm>
            <a:off x="11430000" y="6217920"/>
            <a:ext cx="457200" cy="274320"/>
          </a:xfrm>
          <a:prstGeom prst="rect">
            <a:avLst/>
          </a:prstGeom>
          <a:noFill/>
          <a:ln/>
        </p:spPr>
        <p:txBody>
          <a:bodyPr wrap="square" rtlCol="0" anchor="ctr"/>
          <a:lstStyle/>
          <a:p>
            <a:pPr algn="r" indent="0" marL="0">
              <a:buNone/>
            </a:pPr>
            <a:r>
              <a:rPr lang="en-US" sz="1200" dirty="0">
                <a:solidFill>
                  <a:srgbClr val="64748B"/>
                </a:solidFill>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0972800" cy="548640"/>
          </a:xfrm>
          <a:prstGeom prst="rect">
            <a:avLst/>
          </a:prstGeom>
          <a:noFill/>
          <a:ln/>
        </p:spPr>
        <p:txBody>
          <a:bodyPr wrap="square" rtlCol="0" anchor="ctr"/>
          <a:lstStyle/>
          <a:p>
            <a:pPr indent="0" marL="0">
              <a:buNone/>
            </a:pPr>
            <a:r>
              <a:rPr lang="en-US" sz="2000" b="1" dirty="0">
                <a:solidFill>
                  <a:srgbClr val="1E3A8A"/>
                </a:solidFill>
                <a:latin typeface="Arial" pitchFamily="34" charset="0"/>
                <a:ea typeface="Arial" pitchFamily="34" charset="-122"/>
                <a:cs typeface="Arial" pitchFamily="34" charset="-120"/>
              </a:rPr>
              <a:t>RESEARCH, REFERENCES &amp; UI/UX SHOWCASE</a:t>
            </a:r>
            <a:endParaRPr lang="en-US" sz="2000" dirty="0"/>
          </a:p>
        </p:txBody>
      </p:sp>
      <p:sp>
        <p:nvSpPr>
          <p:cNvPr id="3" name="Shape 1"/>
          <p:cNvSpPr/>
          <p:nvPr/>
        </p:nvSpPr>
        <p:spPr>
          <a:xfrm>
            <a:off x="548640" y="914400"/>
            <a:ext cx="1508760" cy="1188720"/>
          </a:xfrm>
          <a:prstGeom prst="roundRect">
            <a:avLst/>
          </a:prstGeom>
          <a:solidFill>
            <a:srgbClr val="F1F5F9"/>
          </a:solidFill>
          <a:ln w="10160">
            <a:solidFill>
              <a:srgbClr val="CBD5E1"/>
            </a:solidFill>
            <a:prstDash val="solid"/>
          </a:ln>
        </p:spPr>
      </p:sp>
      <p:sp>
        <p:nvSpPr>
          <p:cNvPr id="4" name="Text 2"/>
          <p:cNvSpPr/>
          <p:nvPr/>
        </p:nvSpPr>
        <p:spPr>
          <a:xfrm>
            <a:off x="594360" y="987552"/>
            <a:ext cx="1417320" cy="320040"/>
          </a:xfrm>
          <a:prstGeom prst="rect">
            <a:avLst/>
          </a:prstGeom>
          <a:noFill/>
          <a:ln/>
        </p:spPr>
        <p:txBody>
          <a:bodyPr wrap="square" rtlCol="0" anchor="ctr"/>
          <a:lstStyle/>
          <a:p>
            <a:pPr algn="ctr" indent="0" marL="0">
              <a:buNone/>
            </a:pPr>
            <a:r>
              <a:rPr lang="en-US" sz="850" b="1" dirty="0">
                <a:solidFill>
                  <a:srgbClr val="1E3A8A"/>
                </a:solidFill>
              </a:rPr>
              <a:t>BMJ Open 2017</a:t>
            </a:r>
            <a:endParaRPr lang="en-US" sz="850" dirty="0"/>
          </a:p>
        </p:txBody>
      </p:sp>
      <p:sp>
        <p:nvSpPr>
          <p:cNvPr id="5" name="Text 3"/>
          <p:cNvSpPr/>
          <p:nvPr/>
        </p:nvSpPr>
        <p:spPr>
          <a:xfrm>
            <a:off x="594360" y="1325880"/>
            <a:ext cx="1417320" cy="731520"/>
          </a:xfrm>
          <a:prstGeom prst="rect">
            <a:avLst/>
          </a:prstGeom>
          <a:noFill/>
          <a:ln/>
        </p:spPr>
        <p:txBody>
          <a:bodyPr wrap="square" rtlCol="0" anchor="ctr"/>
          <a:lstStyle/>
          <a:p>
            <a:pPr algn="ctr" indent="0" marL="0">
              <a:buNone/>
            </a:pPr>
            <a:r>
              <a:rPr lang="en-US" sz="750" dirty="0">
                <a:solidFill>
                  <a:srgbClr val="475569"/>
                </a:solidFill>
              </a:rPr>
              <a:t>Primary Care Consultation in 67 Countries (India avg 2 mins)</a:t>
            </a:r>
            <a:endParaRPr lang="en-US" sz="750" dirty="0"/>
          </a:p>
        </p:txBody>
      </p:sp>
      <p:sp>
        <p:nvSpPr>
          <p:cNvPr id="6" name="Shape 4"/>
          <p:cNvSpPr/>
          <p:nvPr/>
        </p:nvSpPr>
        <p:spPr>
          <a:xfrm>
            <a:off x="2148840" y="914400"/>
            <a:ext cx="1508760" cy="1188720"/>
          </a:xfrm>
          <a:prstGeom prst="roundRect">
            <a:avLst/>
          </a:prstGeom>
          <a:solidFill>
            <a:srgbClr val="F1F5F9"/>
          </a:solidFill>
          <a:ln w="10160">
            <a:solidFill>
              <a:srgbClr val="CBD5E1"/>
            </a:solidFill>
            <a:prstDash val="solid"/>
          </a:ln>
        </p:spPr>
      </p:sp>
      <p:sp>
        <p:nvSpPr>
          <p:cNvPr id="7" name="Text 5"/>
          <p:cNvSpPr/>
          <p:nvPr/>
        </p:nvSpPr>
        <p:spPr>
          <a:xfrm>
            <a:off x="2194560" y="987552"/>
            <a:ext cx="1417320" cy="320040"/>
          </a:xfrm>
          <a:prstGeom prst="rect">
            <a:avLst/>
          </a:prstGeom>
          <a:noFill/>
          <a:ln/>
        </p:spPr>
        <p:txBody>
          <a:bodyPr wrap="square" rtlCol="0" anchor="ctr"/>
          <a:lstStyle/>
          <a:p>
            <a:pPr algn="ctr" indent="0" marL="0">
              <a:buNone/>
            </a:pPr>
            <a:r>
              <a:rPr lang="en-US" sz="850" b="1" dirty="0">
                <a:solidFill>
                  <a:srgbClr val="1E3A8A"/>
                </a:solidFill>
              </a:rPr>
              <a:t>Charaka Samhita</a:t>
            </a:r>
            <a:endParaRPr lang="en-US" sz="850" dirty="0"/>
          </a:p>
        </p:txBody>
      </p:sp>
      <p:sp>
        <p:nvSpPr>
          <p:cNvPr id="8" name="Text 6"/>
          <p:cNvSpPr/>
          <p:nvPr/>
        </p:nvSpPr>
        <p:spPr>
          <a:xfrm>
            <a:off x="2194560" y="1325880"/>
            <a:ext cx="1417320" cy="731520"/>
          </a:xfrm>
          <a:prstGeom prst="rect">
            <a:avLst/>
          </a:prstGeom>
          <a:noFill/>
          <a:ln/>
        </p:spPr>
        <p:txBody>
          <a:bodyPr wrap="square" rtlCol="0" anchor="ctr"/>
          <a:lstStyle/>
          <a:p>
            <a:pPr algn="ctr" indent="0" marL="0">
              <a:buNone/>
            </a:pPr>
            <a:r>
              <a:rPr lang="en-US" sz="750" dirty="0">
                <a:solidFill>
                  <a:srgbClr val="475569"/>
                </a:solidFill>
              </a:rPr>
              <a:t>AIIA Dashavidha &amp; Ashtavidha Pariksha Guidelines</a:t>
            </a:r>
            <a:endParaRPr lang="en-US" sz="750" dirty="0"/>
          </a:p>
        </p:txBody>
      </p:sp>
      <p:sp>
        <p:nvSpPr>
          <p:cNvPr id="9" name="Shape 7"/>
          <p:cNvSpPr/>
          <p:nvPr/>
        </p:nvSpPr>
        <p:spPr>
          <a:xfrm>
            <a:off x="3749040" y="914400"/>
            <a:ext cx="1508760" cy="1188720"/>
          </a:xfrm>
          <a:prstGeom prst="roundRect">
            <a:avLst/>
          </a:prstGeom>
          <a:solidFill>
            <a:srgbClr val="F1F5F9"/>
          </a:solidFill>
          <a:ln w="10160">
            <a:solidFill>
              <a:srgbClr val="CBD5E1"/>
            </a:solidFill>
            <a:prstDash val="solid"/>
          </a:ln>
        </p:spPr>
      </p:sp>
      <p:sp>
        <p:nvSpPr>
          <p:cNvPr id="10" name="Text 8"/>
          <p:cNvSpPr/>
          <p:nvPr/>
        </p:nvSpPr>
        <p:spPr>
          <a:xfrm>
            <a:off x="3794760" y="987552"/>
            <a:ext cx="1417320" cy="320040"/>
          </a:xfrm>
          <a:prstGeom prst="rect">
            <a:avLst/>
          </a:prstGeom>
          <a:noFill/>
          <a:ln/>
        </p:spPr>
        <p:txBody>
          <a:bodyPr wrap="square" rtlCol="0" anchor="ctr"/>
          <a:lstStyle/>
          <a:p>
            <a:pPr algn="ctr" indent="0" marL="0">
              <a:buNone/>
            </a:pPr>
            <a:r>
              <a:rPr lang="en-US" sz="850" b="1" dirty="0">
                <a:solidFill>
                  <a:srgbClr val="1E3A8A"/>
                </a:solidFill>
              </a:rPr>
              <a:t>Ministry of Ayush</a:t>
            </a:r>
            <a:endParaRPr lang="en-US" sz="850" dirty="0"/>
          </a:p>
        </p:txBody>
      </p:sp>
      <p:sp>
        <p:nvSpPr>
          <p:cNvPr id="11" name="Text 9"/>
          <p:cNvSpPr/>
          <p:nvPr/>
        </p:nvSpPr>
        <p:spPr>
          <a:xfrm>
            <a:off x="3794760" y="1325880"/>
            <a:ext cx="1417320" cy="731520"/>
          </a:xfrm>
          <a:prstGeom prst="rect">
            <a:avLst/>
          </a:prstGeom>
          <a:noFill/>
          <a:ln/>
        </p:spPr>
        <p:txBody>
          <a:bodyPr wrap="square" rtlCol="0" anchor="ctr"/>
          <a:lstStyle/>
          <a:p>
            <a:pPr algn="ctr" indent="0" marL="0">
              <a:buNone/>
            </a:pPr>
            <a:r>
              <a:rPr lang="en-US" sz="750" dirty="0">
                <a:solidFill>
                  <a:srgbClr val="475569"/>
                </a:solidFill>
              </a:rPr>
              <a:t>NAMASTE Standardized Morbidity Terminology Portal</a:t>
            </a:r>
            <a:endParaRPr lang="en-US" sz="750" dirty="0"/>
          </a:p>
        </p:txBody>
      </p:sp>
      <p:sp>
        <p:nvSpPr>
          <p:cNvPr id="12" name="Shape 10"/>
          <p:cNvSpPr/>
          <p:nvPr/>
        </p:nvSpPr>
        <p:spPr>
          <a:xfrm>
            <a:off x="5349240" y="914400"/>
            <a:ext cx="1508760" cy="1188720"/>
          </a:xfrm>
          <a:prstGeom prst="roundRect">
            <a:avLst/>
          </a:prstGeom>
          <a:solidFill>
            <a:srgbClr val="F1F5F9"/>
          </a:solidFill>
          <a:ln w="10160">
            <a:solidFill>
              <a:srgbClr val="CBD5E1"/>
            </a:solidFill>
            <a:prstDash val="solid"/>
          </a:ln>
        </p:spPr>
      </p:sp>
      <p:sp>
        <p:nvSpPr>
          <p:cNvPr id="13" name="Text 11"/>
          <p:cNvSpPr/>
          <p:nvPr/>
        </p:nvSpPr>
        <p:spPr>
          <a:xfrm>
            <a:off x="5394960" y="987552"/>
            <a:ext cx="1417320" cy="320040"/>
          </a:xfrm>
          <a:prstGeom prst="rect">
            <a:avLst/>
          </a:prstGeom>
          <a:noFill/>
          <a:ln/>
        </p:spPr>
        <p:txBody>
          <a:bodyPr wrap="square" rtlCol="0" anchor="ctr"/>
          <a:lstStyle/>
          <a:p>
            <a:pPr algn="ctr" indent="0" marL="0">
              <a:buNone/>
            </a:pPr>
            <a:r>
              <a:rPr lang="en-US" sz="850" b="1" dirty="0">
                <a:solidFill>
                  <a:srgbClr val="1E3A8A"/>
                </a:solidFill>
              </a:rPr>
              <a:t>NHA ABDM</a:t>
            </a:r>
            <a:endParaRPr lang="en-US" sz="850" dirty="0"/>
          </a:p>
        </p:txBody>
      </p:sp>
      <p:sp>
        <p:nvSpPr>
          <p:cNvPr id="14" name="Text 12"/>
          <p:cNvSpPr/>
          <p:nvPr/>
        </p:nvSpPr>
        <p:spPr>
          <a:xfrm>
            <a:off x="5394960" y="1325880"/>
            <a:ext cx="1417320" cy="731520"/>
          </a:xfrm>
          <a:prstGeom prst="rect">
            <a:avLst/>
          </a:prstGeom>
          <a:noFill/>
          <a:ln/>
        </p:spPr>
        <p:txBody>
          <a:bodyPr wrap="square" rtlCol="0" anchor="ctr"/>
          <a:lstStyle/>
          <a:p>
            <a:pPr algn="ctr" indent="0" marL="0">
              <a:buNone/>
            </a:pPr>
            <a:r>
              <a:rPr lang="en-US" sz="750" dirty="0">
                <a:solidFill>
                  <a:srgbClr val="475569"/>
                </a:solidFill>
              </a:rPr>
              <a:t>FHIR R4 Implementation Guide &amp; Consent Framework</a:t>
            </a:r>
            <a:endParaRPr lang="en-US" sz="750" dirty="0"/>
          </a:p>
        </p:txBody>
      </p:sp>
      <p:sp>
        <p:nvSpPr>
          <p:cNvPr id="15" name="Shape 13"/>
          <p:cNvSpPr/>
          <p:nvPr/>
        </p:nvSpPr>
        <p:spPr>
          <a:xfrm>
            <a:off x="6949440" y="914400"/>
            <a:ext cx="1508760" cy="1188720"/>
          </a:xfrm>
          <a:prstGeom prst="roundRect">
            <a:avLst/>
          </a:prstGeom>
          <a:solidFill>
            <a:srgbClr val="F1F5F9"/>
          </a:solidFill>
          <a:ln w="10160">
            <a:solidFill>
              <a:srgbClr val="CBD5E1"/>
            </a:solidFill>
            <a:prstDash val="solid"/>
          </a:ln>
        </p:spPr>
      </p:sp>
      <p:sp>
        <p:nvSpPr>
          <p:cNvPr id="16" name="Text 14"/>
          <p:cNvSpPr/>
          <p:nvPr/>
        </p:nvSpPr>
        <p:spPr>
          <a:xfrm>
            <a:off x="6995160" y="987552"/>
            <a:ext cx="1417320" cy="320040"/>
          </a:xfrm>
          <a:prstGeom prst="rect">
            <a:avLst/>
          </a:prstGeom>
          <a:noFill/>
          <a:ln/>
        </p:spPr>
        <p:txBody>
          <a:bodyPr wrap="square" rtlCol="0" anchor="ctr"/>
          <a:lstStyle/>
          <a:p>
            <a:pPr algn="ctr" indent="0" marL="0">
              <a:buNone/>
            </a:pPr>
            <a:r>
              <a:rPr lang="en-US" sz="850" b="1" dirty="0">
                <a:solidFill>
                  <a:srgbClr val="1E3A8A"/>
                </a:solidFill>
              </a:rPr>
              <a:t>AI4Bharat / Bhashini</a:t>
            </a:r>
            <a:endParaRPr lang="en-US" sz="850" dirty="0"/>
          </a:p>
        </p:txBody>
      </p:sp>
      <p:sp>
        <p:nvSpPr>
          <p:cNvPr id="17" name="Text 15"/>
          <p:cNvSpPr/>
          <p:nvPr/>
        </p:nvSpPr>
        <p:spPr>
          <a:xfrm>
            <a:off x="6995160" y="1325880"/>
            <a:ext cx="1417320" cy="731520"/>
          </a:xfrm>
          <a:prstGeom prst="rect">
            <a:avLst/>
          </a:prstGeom>
          <a:noFill/>
          <a:ln/>
        </p:spPr>
        <p:txBody>
          <a:bodyPr wrap="square" rtlCol="0" anchor="ctr"/>
          <a:lstStyle/>
          <a:p>
            <a:pPr algn="ctr" indent="0" marL="0">
              <a:buNone/>
            </a:pPr>
            <a:r>
              <a:rPr lang="en-US" sz="750" dirty="0">
                <a:solidFill>
                  <a:srgbClr val="475569"/>
                </a:solidFill>
              </a:rPr>
              <a:t>Speech Recognition Benchmarks in Indian Languages</a:t>
            </a:r>
            <a:endParaRPr lang="en-US" sz="750" dirty="0"/>
          </a:p>
        </p:txBody>
      </p:sp>
      <p:sp>
        <p:nvSpPr>
          <p:cNvPr id="18" name="Shape 16"/>
          <p:cNvSpPr/>
          <p:nvPr/>
        </p:nvSpPr>
        <p:spPr>
          <a:xfrm>
            <a:off x="8549640" y="914400"/>
            <a:ext cx="1508760" cy="1188720"/>
          </a:xfrm>
          <a:prstGeom prst="roundRect">
            <a:avLst/>
          </a:prstGeom>
          <a:solidFill>
            <a:srgbClr val="F1F5F9"/>
          </a:solidFill>
          <a:ln w="10160">
            <a:solidFill>
              <a:srgbClr val="CBD5E1"/>
            </a:solidFill>
            <a:prstDash val="solid"/>
          </a:ln>
        </p:spPr>
      </p:sp>
      <p:sp>
        <p:nvSpPr>
          <p:cNvPr id="19" name="Text 17"/>
          <p:cNvSpPr/>
          <p:nvPr/>
        </p:nvSpPr>
        <p:spPr>
          <a:xfrm>
            <a:off x="8595360" y="987552"/>
            <a:ext cx="1417320" cy="320040"/>
          </a:xfrm>
          <a:prstGeom prst="rect">
            <a:avLst/>
          </a:prstGeom>
          <a:noFill/>
          <a:ln/>
        </p:spPr>
        <p:txBody>
          <a:bodyPr wrap="square" rtlCol="0" anchor="ctr"/>
          <a:lstStyle/>
          <a:p>
            <a:pPr algn="ctr" indent="0" marL="0">
              <a:buNone/>
            </a:pPr>
            <a:r>
              <a:rPr lang="en-US" sz="850" b="1" dirty="0">
                <a:solidFill>
                  <a:srgbClr val="1E3A8A"/>
                </a:solidFill>
              </a:rPr>
              <a:t>DPDP Act 2023</a:t>
            </a:r>
            <a:endParaRPr lang="en-US" sz="850" dirty="0"/>
          </a:p>
        </p:txBody>
      </p:sp>
      <p:sp>
        <p:nvSpPr>
          <p:cNvPr id="20" name="Text 18"/>
          <p:cNvSpPr/>
          <p:nvPr/>
        </p:nvSpPr>
        <p:spPr>
          <a:xfrm>
            <a:off x="8595360" y="1325880"/>
            <a:ext cx="1417320" cy="731520"/>
          </a:xfrm>
          <a:prstGeom prst="rect">
            <a:avLst/>
          </a:prstGeom>
          <a:noFill/>
          <a:ln/>
        </p:spPr>
        <p:txBody>
          <a:bodyPr wrap="square" rtlCol="0" anchor="ctr"/>
          <a:lstStyle/>
          <a:p>
            <a:pPr algn="ctr" indent="0" marL="0">
              <a:buNone/>
            </a:pPr>
            <a:r>
              <a:rPr lang="en-US" sz="750" dirty="0">
                <a:solidFill>
                  <a:srgbClr val="475569"/>
                </a:solidFill>
              </a:rPr>
              <a:t>Digital Personal Data Protection Regulatory Compliance</a:t>
            </a:r>
            <a:endParaRPr lang="en-US" sz="750" dirty="0"/>
          </a:p>
        </p:txBody>
      </p:sp>
      <p:sp>
        <p:nvSpPr>
          <p:cNvPr id="21" name="Shape 19"/>
          <p:cNvSpPr/>
          <p:nvPr/>
        </p:nvSpPr>
        <p:spPr>
          <a:xfrm>
            <a:off x="10149840" y="914400"/>
            <a:ext cx="1508760" cy="1188720"/>
          </a:xfrm>
          <a:prstGeom prst="roundRect">
            <a:avLst/>
          </a:prstGeom>
          <a:solidFill>
            <a:srgbClr val="F1F5F9"/>
          </a:solidFill>
          <a:ln w="10160">
            <a:solidFill>
              <a:srgbClr val="CBD5E1"/>
            </a:solidFill>
            <a:prstDash val="solid"/>
          </a:ln>
        </p:spPr>
      </p:sp>
      <p:sp>
        <p:nvSpPr>
          <p:cNvPr id="22" name="Text 20"/>
          <p:cNvSpPr/>
          <p:nvPr/>
        </p:nvSpPr>
        <p:spPr>
          <a:xfrm>
            <a:off x="10195560" y="987552"/>
            <a:ext cx="1417320" cy="320040"/>
          </a:xfrm>
          <a:prstGeom prst="rect">
            <a:avLst/>
          </a:prstGeom>
          <a:noFill/>
          <a:ln/>
        </p:spPr>
        <p:txBody>
          <a:bodyPr wrap="square" rtlCol="0" anchor="ctr"/>
          <a:lstStyle/>
          <a:p>
            <a:pPr algn="ctr" indent="0" marL="0">
              <a:buNone/>
            </a:pPr>
            <a:r>
              <a:rPr lang="en-US" sz="850" b="1" dirty="0">
                <a:solidFill>
                  <a:srgbClr val="1E3A8A"/>
                </a:solidFill>
              </a:rPr>
              <a:t>WHO Patient Safety</a:t>
            </a:r>
            <a:endParaRPr lang="en-US" sz="850" dirty="0"/>
          </a:p>
        </p:txBody>
      </p:sp>
      <p:sp>
        <p:nvSpPr>
          <p:cNvPr id="23" name="Text 21"/>
          <p:cNvSpPr/>
          <p:nvPr/>
        </p:nvSpPr>
        <p:spPr>
          <a:xfrm>
            <a:off x="10195560" y="1325880"/>
            <a:ext cx="1417320" cy="731520"/>
          </a:xfrm>
          <a:prstGeom prst="rect">
            <a:avLst/>
          </a:prstGeom>
          <a:noFill/>
          <a:ln/>
        </p:spPr>
        <p:txBody>
          <a:bodyPr wrap="square" rtlCol="0" anchor="ctr"/>
          <a:lstStyle/>
          <a:p>
            <a:pPr algn="ctr" indent="0" marL="0">
              <a:buNone/>
            </a:pPr>
            <a:r>
              <a:rPr lang="en-US" sz="750" dirty="0">
                <a:solidFill>
                  <a:srgbClr val="475569"/>
                </a:solidFill>
              </a:rPr>
              <a:t>Diagnostic Error Reduction via Structured History Taking</a:t>
            </a:r>
            <a:endParaRPr lang="en-US" sz="750" dirty="0"/>
          </a:p>
        </p:txBody>
      </p:sp>
      <p:sp>
        <p:nvSpPr>
          <p:cNvPr id="24" name="Text 22"/>
          <p:cNvSpPr/>
          <p:nvPr/>
        </p:nvSpPr>
        <p:spPr>
          <a:xfrm>
            <a:off x="548640" y="2286000"/>
            <a:ext cx="10972800" cy="365760"/>
          </a:xfrm>
          <a:prstGeom prst="rect">
            <a:avLst/>
          </a:prstGeom>
          <a:noFill/>
          <a:ln/>
        </p:spPr>
        <p:txBody>
          <a:bodyPr wrap="square" rtlCol="0" anchor="ctr"/>
          <a:lstStyle/>
          <a:p>
            <a:pPr indent="0" marL="0">
              <a:buNone/>
            </a:pPr>
            <a:r>
              <a:rPr lang="en-US" sz="1200" b="1" dirty="0">
                <a:solidFill>
                  <a:srgbClr val="0F172A"/>
                </a:solidFill>
              </a:rPr>
              <a:t>INTERACTIVE PROTOTYPE &amp; PRODUCTION UI/UX SCREENS</a:t>
            </a:r>
            <a:endParaRPr lang="en-US" sz="1200" dirty="0"/>
          </a:p>
        </p:txBody>
      </p:sp>
      <p:sp>
        <p:nvSpPr>
          <p:cNvPr id="25" name="Shape 23"/>
          <p:cNvSpPr/>
          <p:nvPr/>
        </p:nvSpPr>
        <p:spPr>
          <a:xfrm>
            <a:off x="548640" y="2743200"/>
            <a:ext cx="2697480" cy="3108960"/>
          </a:xfrm>
          <a:prstGeom prst="roundRect">
            <a:avLst/>
          </a:prstGeom>
          <a:solidFill>
            <a:srgbClr val="F8FAFC"/>
          </a:solidFill>
          <a:ln w="12700">
            <a:solidFill>
              <a:srgbClr val="CBD5E1"/>
            </a:solidFill>
            <a:prstDash val="solid"/>
          </a:ln>
        </p:spPr>
      </p:sp>
      <p:sp>
        <p:nvSpPr>
          <p:cNvPr id="26" name="Shape 24"/>
          <p:cNvSpPr/>
          <p:nvPr/>
        </p:nvSpPr>
        <p:spPr>
          <a:xfrm>
            <a:off x="548640" y="2743200"/>
            <a:ext cx="2697480" cy="365760"/>
          </a:xfrm>
          <a:prstGeom prst="rect">
            <a:avLst/>
          </a:prstGeom>
          <a:solidFill>
            <a:srgbClr val="0F766E"/>
          </a:solidFill>
          <a:ln/>
        </p:spPr>
      </p:sp>
      <p:sp>
        <p:nvSpPr>
          <p:cNvPr id="27" name="Text 25"/>
          <p:cNvSpPr/>
          <p:nvPr/>
        </p:nvSpPr>
        <p:spPr>
          <a:xfrm>
            <a:off x="640080" y="2788920"/>
            <a:ext cx="2514600" cy="274320"/>
          </a:xfrm>
          <a:prstGeom prst="rect">
            <a:avLst/>
          </a:prstGeom>
          <a:noFill/>
          <a:ln/>
        </p:spPr>
        <p:txBody>
          <a:bodyPr wrap="square" rtlCol="0" anchor="ctr"/>
          <a:lstStyle/>
          <a:p>
            <a:pPr algn="ctr" indent="0" marL="0">
              <a:buNone/>
            </a:pPr>
            <a:r>
              <a:rPr lang="en-US" sz="850" b="1" dirty="0">
                <a:solidFill>
                  <a:srgbClr val="FFFFFF"/>
                </a:solidFill>
              </a:rPr>
              <a:t>Module D: Identity &amp; Consent</a:t>
            </a:r>
            <a:endParaRPr lang="en-US" sz="850" dirty="0"/>
          </a:p>
        </p:txBody>
      </p:sp>
      <p:sp>
        <p:nvSpPr>
          <p:cNvPr id="28" name="Text 26"/>
          <p:cNvSpPr/>
          <p:nvPr/>
        </p:nvSpPr>
        <p:spPr>
          <a:xfrm>
            <a:off x="640080" y="3200400"/>
            <a:ext cx="2514600" cy="457200"/>
          </a:xfrm>
          <a:prstGeom prst="rect">
            <a:avLst/>
          </a:prstGeom>
          <a:noFill/>
          <a:ln/>
        </p:spPr>
        <p:txBody>
          <a:bodyPr wrap="square" rtlCol="0" anchor="ctr"/>
          <a:lstStyle/>
          <a:p>
            <a:pPr algn="ctr" indent="0" marL="0">
              <a:buNone/>
            </a:pPr>
            <a:r>
              <a:rPr lang="en-US" sz="1000" b="1" dirty="0">
                <a:solidFill>
                  <a:srgbClr val="0F172A"/>
                </a:solidFill>
              </a:rPr>
              <a:t>1. Multilingual Kiosk &amp; ABHA Login</a:t>
            </a:r>
            <a:endParaRPr lang="en-US" sz="1000" dirty="0"/>
          </a:p>
        </p:txBody>
      </p:sp>
      <p:sp>
        <p:nvSpPr>
          <p:cNvPr id="29" name="Text 27"/>
          <p:cNvSpPr/>
          <p:nvPr/>
        </p:nvSpPr>
        <p:spPr>
          <a:xfrm>
            <a:off x="640080" y="3749040"/>
            <a:ext cx="2514600" cy="1280160"/>
          </a:xfrm>
          <a:prstGeom prst="rect">
            <a:avLst/>
          </a:prstGeom>
          <a:noFill/>
          <a:ln/>
        </p:spPr>
        <p:txBody>
          <a:bodyPr wrap="square" rtlCol="0" anchor="ctr"/>
          <a:lstStyle/>
          <a:p>
            <a:pPr algn="ctr" indent="0" marL="0">
              <a:buNone/>
            </a:pPr>
            <a:r>
              <a:rPr lang="en-US" sz="850" dirty="0">
                <a:solidFill>
                  <a:srgbClr val="475569"/>
                </a:solidFill>
              </a:rPr>
              <a:t>Intuitive touch screen with Hindi, Tamil, Telugu, English &amp; QR/Aadhaar biometric authentication.</a:t>
            </a:r>
            <a:endParaRPr lang="en-US" sz="850" dirty="0"/>
          </a:p>
        </p:txBody>
      </p:sp>
      <p:sp>
        <p:nvSpPr>
          <p:cNvPr id="30" name="Shape 28"/>
          <p:cNvSpPr/>
          <p:nvPr/>
        </p:nvSpPr>
        <p:spPr>
          <a:xfrm>
            <a:off x="731520" y="5120640"/>
            <a:ext cx="2331720" cy="457200"/>
          </a:xfrm>
          <a:prstGeom prst="roundRect">
            <a:avLst/>
          </a:prstGeom>
          <a:solidFill>
            <a:srgbClr val="F1F5F9"/>
          </a:solidFill>
          <a:ln w="6350">
            <a:solidFill>
              <a:srgbClr val="CBD5E1"/>
            </a:solidFill>
            <a:prstDash val="solid"/>
          </a:ln>
        </p:spPr>
      </p:sp>
      <p:sp>
        <p:nvSpPr>
          <p:cNvPr id="31" name="Text 29"/>
          <p:cNvSpPr/>
          <p:nvPr/>
        </p:nvSpPr>
        <p:spPr>
          <a:xfrm>
            <a:off x="731520" y="5212080"/>
            <a:ext cx="2331720" cy="274320"/>
          </a:xfrm>
          <a:prstGeom prst="rect">
            <a:avLst/>
          </a:prstGeom>
          <a:noFill/>
          <a:ln/>
        </p:spPr>
        <p:txBody>
          <a:bodyPr wrap="square" rtlCol="0" anchor="ctr"/>
          <a:lstStyle/>
          <a:p>
            <a:pPr algn="ctr" indent="0" marL="0">
              <a:buNone/>
            </a:pPr>
            <a:r>
              <a:rPr lang="en-US" sz="800" b="1" dirty="0">
                <a:solidFill>
                  <a:srgbClr val="15803D"/>
                </a:solidFill>
              </a:rPr>
              <a:t>STATUS: LIVE &amp; VERIFIED</a:t>
            </a:r>
            <a:endParaRPr lang="en-US" sz="800" dirty="0"/>
          </a:p>
        </p:txBody>
      </p:sp>
      <p:sp>
        <p:nvSpPr>
          <p:cNvPr id="32" name="Shape 30"/>
          <p:cNvSpPr/>
          <p:nvPr/>
        </p:nvSpPr>
        <p:spPr>
          <a:xfrm>
            <a:off x="3383280" y="2743200"/>
            <a:ext cx="2697480" cy="3108960"/>
          </a:xfrm>
          <a:prstGeom prst="roundRect">
            <a:avLst/>
          </a:prstGeom>
          <a:solidFill>
            <a:srgbClr val="F8FAFC"/>
          </a:solidFill>
          <a:ln w="12700">
            <a:solidFill>
              <a:srgbClr val="CBD5E1"/>
            </a:solidFill>
            <a:prstDash val="solid"/>
          </a:ln>
        </p:spPr>
      </p:sp>
      <p:sp>
        <p:nvSpPr>
          <p:cNvPr id="33" name="Shape 31"/>
          <p:cNvSpPr/>
          <p:nvPr/>
        </p:nvSpPr>
        <p:spPr>
          <a:xfrm>
            <a:off x="3383280" y="2743200"/>
            <a:ext cx="2697480" cy="365760"/>
          </a:xfrm>
          <a:prstGeom prst="rect">
            <a:avLst/>
          </a:prstGeom>
          <a:solidFill>
            <a:srgbClr val="0F766E"/>
          </a:solidFill>
          <a:ln/>
        </p:spPr>
      </p:sp>
      <p:sp>
        <p:nvSpPr>
          <p:cNvPr id="34" name="Text 32"/>
          <p:cNvSpPr/>
          <p:nvPr/>
        </p:nvSpPr>
        <p:spPr>
          <a:xfrm>
            <a:off x="3474720" y="2788920"/>
            <a:ext cx="2514600" cy="274320"/>
          </a:xfrm>
          <a:prstGeom prst="rect">
            <a:avLst/>
          </a:prstGeom>
          <a:noFill/>
          <a:ln/>
        </p:spPr>
        <p:txBody>
          <a:bodyPr wrap="square" rtlCol="0" anchor="ctr"/>
          <a:lstStyle/>
          <a:p>
            <a:pPr algn="ctr" indent="0" marL="0">
              <a:buNone/>
            </a:pPr>
            <a:r>
              <a:rPr lang="en-US" sz="850" b="1" dirty="0">
                <a:solidFill>
                  <a:srgbClr val="FFFFFF"/>
                </a:solidFill>
              </a:rPr>
              <a:t>Module A: Voice + SOCRATES</a:t>
            </a:r>
            <a:endParaRPr lang="en-US" sz="850" dirty="0"/>
          </a:p>
        </p:txBody>
      </p:sp>
      <p:sp>
        <p:nvSpPr>
          <p:cNvPr id="35" name="Text 33"/>
          <p:cNvSpPr/>
          <p:nvPr/>
        </p:nvSpPr>
        <p:spPr>
          <a:xfrm>
            <a:off x="3474720" y="3200400"/>
            <a:ext cx="2514600" cy="457200"/>
          </a:xfrm>
          <a:prstGeom prst="rect">
            <a:avLst/>
          </a:prstGeom>
          <a:noFill/>
          <a:ln/>
        </p:spPr>
        <p:txBody>
          <a:bodyPr wrap="square" rtlCol="0" anchor="ctr"/>
          <a:lstStyle/>
          <a:p>
            <a:pPr algn="ctr" indent="0" marL="0">
              <a:buNone/>
            </a:pPr>
            <a:r>
              <a:rPr lang="en-US" sz="1000" b="1" dirty="0">
                <a:solidFill>
                  <a:srgbClr val="0F172A"/>
                </a:solidFill>
              </a:rPr>
              <a:t>2. Voice-First Conversational Intake</a:t>
            </a:r>
            <a:endParaRPr lang="en-US" sz="1000" dirty="0"/>
          </a:p>
        </p:txBody>
      </p:sp>
      <p:sp>
        <p:nvSpPr>
          <p:cNvPr id="36" name="Text 34"/>
          <p:cNvSpPr/>
          <p:nvPr/>
        </p:nvSpPr>
        <p:spPr>
          <a:xfrm>
            <a:off x="3474720" y="3749040"/>
            <a:ext cx="2514600" cy="1280160"/>
          </a:xfrm>
          <a:prstGeom prst="rect">
            <a:avLst/>
          </a:prstGeom>
          <a:noFill/>
          <a:ln/>
        </p:spPr>
        <p:txBody>
          <a:bodyPr wrap="square" rtlCol="0" anchor="ctr"/>
          <a:lstStyle/>
          <a:p>
            <a:pPr algn="ctr" indent="0" marL="0">
              <a:buNone/>
            </a:pPr>
            <a:r>
              <a:rPr lang="en-US" sz="850" dirty="0">
                <a:solidFill>
                  <a:srgbClr val="475569"/>
                </a:solidFill>
              </a:rPr>
              <a:t>Adaptive speech questions probing onset, pain radiation, Prakriti, Agni, and instant Red-Flag triage.</a:t>
            </a:r>
            <a:endParaRPr lang="en-US" sz="850" dirty="0"/>
          </a:p>
        </p:txBody>
      </p:sp>
      <p:sp>
        <p:nvSpPr>
          <p:cNvPr id="37" name="Shape 35"/>
          <p:cNvSpPr/>
          <p:nvPr/>
        </p:nvSpPr>
        <p:spPr>
          <a:xfrm>
            <a:off x="3566160" y="5120640"/>
            <a:ext cx="2331720" cy="457200"/>
          </a:xfrm>
          <a:prstGeom prst="roundRect">
            <a:avLst/>
          </a:prstGeom>
          <a:solidFill>
            <a:srgbClr val="F1F5F9"/>
          </a:solidFill>
          <a:ln w="6350">
            <a:solidFill>
              <a:srgbClr val="CBD5E1"/>
            </a:solidFill>
            <a:prstDash val="solid"/>
          </a:ln>
        </p:spPr>
      </p:sp>
      <p:sp>
        <p:nvSpPr>
          <p:cNvPr id="38" name="Text 36"/>
          <p:cNvSpPr/>
          <p:nvPr/>
        </p:nvSpPr>
        <p:spPr>
          <a:xfrm>
            <a:off x="3566160" y="5212080"/>
            <a:ext cx="2331720" cy="274320"/>
          </a:xfrm>
          <a:prstGeom prst="rect">
            <a:avLst/>
          </a:prstGeom>
          <a:noFill/>
          <a:ln/>
        </p:spPr>
        <p:txBody>
          <a:bodyPr wrap="square" rtlCol="0" anchor="ctr"/>
          <a:lstStyle/>
          <a:p>
            <a:pPr algn="ctr" indent="0" marL="0">
              <a:buNone/>
            </a:pPr>
            <a:r>
              <a:rPr lang="en-US" sz="800" b="1" dirty="0">
                <a:solidFill>
                  <a:srgbClr val="15803D"/>
                </a:solidFill>
              </a:rPr>
              <a:t>STATUS: LIVE &amp; VERIFIED</a:t>
            </a:r>
            <a:endParaRPr lang="en-US" sz="800" dirty="0"/>
          </a:p>
        </p:txBody>
      </p:sp>
      <p:sp>
        <p:nvSpPr>
          <p:cNvPr id="39" name="Shape 37"/>
          <p:cNvSpPr/>
          <p:nvPr/>
        </p:nvSpPr>
        <p:spPr>
          <a:xfrm>
            <a:off x="6217920" y="2743200"/>
            <a:ext cx="2697480" cy="3108960"/>
          </a:xfrm>
          <a:prstGeom prst="roundRect">
            <a:avLst/>
          </a:prstGeom>
          <a:solidFill>
            <a:srgbClr val="F8FAFC"/>
          </a:solidFill>
          <a:ln w="12700">
            <a:solidFill>
              <a:srgbClr val="CBD5E1"/>
            </a:solidFill>
            <a:prstDash val="solid"/>
          </a:ln>
        </p:spPr>
      </p:sp>
      <p:sp>
        <p:nvSpPr>
          <p:cNvPr id="40" name="Shape 38"/>
          <p:cNvSpPr/>
          <p:nvPr/>
        </p:nvSpPr>
        <p:spPr>
          <a:xfrm>
            <a:off x="6217920" y="2743200"/>
            <a:ext cx="2697480" cy="365760"/>
          </a:xfrm>
          <a:prstGeom prst="rect">
            <a:avLst/>
          </a:prstGeom>
          <a:solidFill>
            <a:srgbClr val="0F766E"/>
          </a:solidFill>
          <a:ln/>
        </p:spPr>
      </p:sp>
      <p:sp>
        <p:nvSpPr>
          <p:cNvPr id="41" name="Text 39"/>
          <p:cNvSpPr/>
          <p:nvPr/>
        </p:nvSpPr>
        <p:spPr>
          <a:xfrm>
            <a:off x="6309360" y="2788920"/>
            <a:ext cx="2514600" cy="274320"/>
          </a:xfrm>
          <a:prstGeom prst="rect">
            <a:avLst/>
          </a:prstGeom>
          <a:noFill/>
          <a:ln/>
        </p:spPr>
        <p:txBody>
          <a:bodyPr wrap="square" rtlCol="0" anchor="ctr"/>
          <a:lstStyle/>
          <a:p>
            <a:pPr algn="ctr" indent="0" marL="0">
              <a:buNone/>
            </a:pPr>
            <a:r>
              <a:rPr lang="en-US" sz="850" b="1" dirty="0">
                <a:solidFill>
                  <a:srgbClr val="FFFFFF"/>
                </a:solidFill>
              </a:rPr>
              <a:t>Module B: Medical OCR</a:t>
            </a:r>
            <a:endParaRPr lang="en-US" sz="850" dirty="0"/>
          </a:p>
        </p:txBody>
      </p:sp>
      <p:sp>
        <p:nvSpPr>
          <p:cNvPr id="42" name="Text 40"/>
          <p:cNvSpPr/>
          <p:nvPr/>
        </p:nvSpPr>
        <p:spPr>
          <a:xfrm>
            <a:off x="6309360" y="3200400"/>
            <a:ext cx="2514600" cy="457200"/>
          </a:xfrm>
          <a:prstGeom prst="rect">
            <a:avLst/>
          </a:prstGeom>
          <a:noFill/>
          <a:ln/>
        </p:spPr>
        <p:txBody>
          <a:bodyPr wrap="square" rtlCol="0" anchor="ctr"/>
          <a:lstStyle/>
          <a:p>
            <a:pPr algn="ctr" indent="0" marL="0">
              <a:buNone/>
            </a:pPr>
            <a:r>
              <a:rPr lang="en-US" sz="1000" b="1" dirty="0">
                <a:solidFill>
                  <a:srgbClr val="0F172A"/>
                </a:solidFill>
              </a:rPr>
              <a:t>3. Medical Document Digitizer</a:t>
            </a:r>
            <a:endParaRPr lang="en-US" sz="1000" dirty="0"/>
          </a:p>
        </p:txBody>
      </p:sp>
      <p:sp>
        <p:nvSpPr>
          <p:cNvPr id="43" name="Text 41"/>
          <p:cNvSpPr/>
          <p:nvPr/>
        </p:nvSpPr>
        <p:spPr>
          <a:xfrm>
            <a:off x="6309360" y="3749040"/>
            <a:ext cx="2514600" cy="1280160"/>
          </a:xfrm>
          <a:prstGeom prst="rect">
            <a:avLst/>
          </a:prstGeom>
          <a:noFill/>
          <a:ln/>
        </p:spPr>
        <p:txBody>
          <a:bodyPr wrap="square" rtlCol="0" anchor="ctr"/>
          <a:lstStyle/>
          <a:p>
            <a:pPr algn="ctr" indent="0" marL="0">
              <a:buNone/>
            </a:pPr>
            <a:r>
              <a:rPr lang="en-US" sz="850" dirty="0">
                <a:solidFill>
                  <a:srgbClr val="475569"/>
                </a:solidFill>
              </a:rPr>
              <a:t>Camera feed with OCR extraction for paper prescriptions, lab reports, and abnormal biomarker flags.</a:t>
            </a:r>
            <a:endParaRPr lang="en-US" sz="850" dirty="0"/>
          </a:p>
        </p:txBody>
      </p:sp>
      <p:sp>
        <p:nvSpPr>
          <p:cNvPr id="44" name="Shape 42"/>
          <p:cNvSpPr/>
          <p:nvPr/>
        </p:nvSpPr>
        <p:spPr>
          <a:xfrm>
            <a:off x="6400800" y="5120640"/>
            <a:ext cx="2331720" cy="457200"/>
          </a:xfrm>
          <a:prstGeom prst="roundRect">
            <a:avLst/>
          </a:prstGeom>
          <a:solidFill>
            <a:srgbClr val="F1F5F9"/>
          </a:solidFill>
          <a:ln w="6350">
            <a:solidFill>
              <a:srgbClr val="CBD5E1"/>
            </a:solidFill>
            <a:prstDash val="solid"/>
          </a:ln>
        </p:spPr>
      </p:sp>
      <p:sp>
        <p:nvSpPr>
          <p:cNvPr id="45" name="Text 43"/>
          <p:cNvSpPr/>
          <p:nvPr/>
        </p:nvSpPr>
        <p:spPr>
          <a:xfrm>
            <a:off x="6400800" y="5212080"/>
            <a:ext cx="2331720" cy="274320"/>
          </a:xfrm>
          <a:prstGeom prst="rect">
            <a:avLst/>
          </a:prstGeom>
          <a:noFill/>
          <a:ln/>
        </p:spPr>
        <p:txBody>
          <a:bodyPr wrap="square" rtlCol="0" anchor="ctr"/>
          <a:lstStyle/>
          <a:p>
            <a:pPr algn="ctr" indent="0" marL="0">
              <a:buNone/>
            </a:pPr>
            <a:r>
              <a:rPr lang="en-US" sz="800" b="1" dirty="0">
                <a:solidFill>
                  <a:srgbClr val="15803D"/>
                </a:solidFill>
              </a:rPr>
              <a:t>STATUS: LIVE &amp; VERIFIED</a:t>
            </a:r>
            <a:endParaRPr lang="en-US" sz="800" dirty="0"/>
          </a:p>
        </p:txBody>
      </p:sp>
      <p:sp>
        <p:nvSpPr>
          <p:cNvPr id="46" name="Shape 44"/>
          <p:cNvSpPr/>
          <p:nvPr/>
        </p:nvSpPr>
        <p:spPr>
          <a:xfrm>
            <a:off x="9052560" y="2743200"/>
            <a:ext cx="2697480" cy="3108960"/>
          </a:xfrm>
          <a:prstGeom prst="roundRect">
            <a:avLst/>
          </a:prstGeom>
          <a:solidFill>
            <a:srgbClr val="F8FAFC"/>
          </a:solidFill>
          <a:ln w="12700">
            <a:solidFill>
              <a:srgbClr val="CBD5E1"/>
            </a:solidFill>
            <a:prstDash val="solid"/>
          </a:ln>
        </p:spPr>
      </p:sp>
      <p:sp>
        <p:nvSpPr>
          <p:cNvPr id="47" name="Shape 45"/>
          <p:cNvSpPr/>
          <p:nvPr/>
        </p:nvSpPr>
        <p:spPr>
          <a:xfrm>
            <a:off x="9052560" y="2743200"/>
            <a:ext cx="2697480" cy="365760"/>
          </a:xfrm>
          <a:prstGeom prst="rect">
            <a:avLst/>
          </a:prstGeom>
          <a:solidFill>
            <a:srgbClr val="0F766E"/>
          </a:solidFill>
          <a:ln/>
        </p:spPr>
      </p:sp>
      <p:sp>
        <p:nvSpPr>
          <p:cNvPr id="48" name="Text 46"/>
          <p:cNvSpPr/>
          <p:nvPr/>
        </p:nvSpPr>
        <p:spPr>
          <a:xfrm>
            <a:off x="9144000" y="2788920"/>
            <a:ext cx="2514600" cy="274320"/>
          </a:xfrm>
          <a:prstGeom prst="rect">
            <a:avLst/>
          </a:prstGeom>
          <a:noFill/>
          <a:ln/>
        </p:spPr>
        <p:txBody>
          <a:bodyPr wrap="square" rtlCol="0" anchor="ctr"/>
          <a:lstStyle/>
          <a:p>
            <a:pPr algn="ctr" indent="0" marL="0">
              <a:buNone/>
            </a:pPr>
            <a:r>
              <a:rPr lang="en-US" sz="850" b="1" dirty="0">
                <a:solidFill>
                  <a:srgbClr val="FFFFFF"/>
                </a:solidFill>
              </a:rPr>
              <a:t>Module C: Physician Summary</a:t>
            </a:r>
            <a:endParaRPr lang="en-US" sz="850" dirty="0"/>
          </a:p>
        </p:txBody>
      </p:sp>
      <p:sp>
        <p:nvSpPr>
          <p:cNvPr id="49" name="Text 47"/>
          <p:cNvSpPr/>
          <p:nvPr/>
        </p:nvSpPr>
        <p:spPr>
          <a:xfrm>
            <a:off x="9144000" y="3200400"/>
            <a:ext cx="2514600" cy="457200"/>
          </a:xfrm>
          <a:prstGeom prst="rect">
            <a:avLst/>
          </a:prstGeom>
          <a:noFill/>
          <a:ln/>
        </p:spPr>
        <p:txBody>
          <a:bodyPr wrap="square" rtlCol="0" anchor="ctr"/>
          <a:lstStyle/>
          <a:p>
            <a:pPr algn="ctr" indent="0" marL="0">
              <a:buNone/>
            </a:pPr>
            <a:r>
              <a:rPr lang="en-US" sz="1000" b="1" dirty="0">
                <a:solidFill>
                  <a:srgbClr val="0F172A"/>
                </a:solidFill>
              </a:rPr>
              <a:t>4. Doctor's 30-Sec EMR Dashboard</a:t>
            </a:r>
            <a:endParaRPr lang="en-US" sz="1000" dirty="0"/>
          </a:p>
        </p:txBody>
      </p:sp>
      <p:sp>
        <p:nvSpPr>
          <p:cNvPr id="50" name="Text 48"/>
          <p:cNvSpPr/>
          <p:nvPr/>
        </p:nvSpPr>
        <p:spPr>
          <a:xfrm>
            <a:off x="9144000" y="3749040"/>
            <a:ext cx="2514600" cy="1280160"/>
          </a:xfrm>
          <a:prstGeom prst="rect">
            <a:avLst/>
          </a:prstGeom>
          <a:noFill/>
          <a:ln/>
        </p:spPr>
        <p:txBody>
          <a:bodyPr wrap="square" rtlCol="0" anchor="ctr"/>
          <a:lstStyle/>
          <a:p>
            <a:pPr algn="ctr" indent="0" marL="0">
              <a:buNone/>
            </a:pPr>
            <a:r>
              <a:rPr lang="en-US" sz="850" dirty="0">
                <a:solidFill>
                  <a:srgbClr val="475569"/>
                </a:solidFill>
              </a:rPr>
              <a:t>Synthesized clinical note with 1-click accept, amend, or sign before examination and counseling.</a:t>
            </a:r>
            <a:endParaRPr lang="en-US" sz="850" dirty="0"/>
          </a:p>
        </p:txBody>
      </p:sp>
      <p:sp>
        <p:nvSpPr>
          <p:cNvPr id="51" name="Shape 49"/>
          <p:cNvSpPr/>
          <p:nvPr/>
        </p:nvSpPr>
        <p:spPr>
          <a:xfrm>
            <a:off x="9235440" y="5120640"/>
            <a:ext cx="2331720" cy="457200"/>
          </a:xfrm>
          <a:prstGeom prst="roundRect">
            <a:avLst/>
          </a:prstGeom>
          <a:solidFill>
            <a:srgbClr val="F1F5F9"/>
          </a:solidFill>
          <a:ln w="6350">
            <a:solidFill>
              <a:srgbClr val="CBD5E1"/>
            </a:solidFill>
            <a:prstDash val="solid"/>
          </a:ln>
        </p:spPr>
      </p:sp>
      <p:sp>
        <p:nvSpPr>
          <p:cNvPr id="52" name="Text 50"/>
          <p:cNvSpPr/>
          <p:nvPr/>
        </p:nvSpPr>
        <p:spPr>
          <a:xfrm>
            <a:off x="9235440" y="5212080"/>
            <a:ext cx="2331720" cy="274320"/>
          </a:xfrm>
          <a:prstGeom prst="rect">
            <a:avLst/>
          </a:prstGeom>
          <a:noFill/>
          <a:ln/>
        </p:spPr>
        <p:txBody>
          <a:bodyPr wrap="square" rtlCol="0" anchor="ctr"/>
          <a:lstStyle/>
          <a:p>
            <a:pPr algn="ctr" indent="0" marL="0">
              <a:buNone/>
            </a:pPr>
            <a:r>
              <a:rPr lang="en-US" sz="800" b="1" dirty="0">
                <a:solidFill>
                  <a:srgbClr val="15803D"/>
                </a:solidFill>
              </a:rPr>
              <a:t>STATUS: LIVE &amp; VERIFIED</a:t>
            </a:r>
            <a:endParaRPr lang="en-US" sz="800" dirty="0"/>
          </a:p>
        </p:txBody>
      </p:sp>
      <p:sp>
        <p:nvSpPr>
          <p:cNvPr id="53" name="Text 51"/>
          <p:cNvSpPr/>
          <p:nvPr/>
        </p:nvSpPr>
        <p:spPr>
          <a:xfrm>
            <a:off x="548640" y="6217920"/>
            <a:ext cx="5486400" cy="274320"/>
          </a:xfrm>
          <a:prstGeom prst="rect">
            <a:avLst/>
          </a:prstGeom>
          <a:noFill/>
          <a:ln/>
        </p:spPr>
        <p:txBody>
          <a:bodyPr wrap="square" rtlCol="0" anchor="ctr"/>
          <a:lstStyle/>
          <a:p>
            <a:pPr indent="0" marL="0">
              <a:buNone/>
            </a:pPr>
            <a:r>
              <a:rPr lang="en-US" sz="900" dirty="0">
                <a:solidFill>
                  <a:srgbClr val="94A3B8"/>
                </a:solidFill>
              </a:rPr>
              <a:t>@SIH Idea submission- Template | Slide 6</a:t>
            </a:r>
            <a:endParaRPr lang="en-US" sz="900" dirty="0"/>
          </a:p>
        </p:txBody>
      </p:sp>
      <p:sp>
        <p:nvSpPr>
          <p:cNvPr id="54" name="Text 52"/>
          <p:cNvSpPr/>
          <p:nvPr/>
        </p:nvSpPr>
        <p:spPr>
          <a:xfrm>
            <a:off x="11430000" y="6217920"/>
            <a:ext cx="457200" cy="274320"/>
          </a:xfrm>
          <a:prstGeom prst="rect">
            <a:avLst/>
          </a:prstGeom>
          <a:noFill/>
          <a:ln/>
        </p:spPr>
        <p:txBody>
          <a:bodyPr wrap="square" rtlCol="0" anchor="ctr"/>
          <a:lstStyle/>
          <a:p>
            <a:pPr algn="r" indent="0" marL="0">
              <a:buNone/>
            </a:pPr>
            <a:r>
              <a:rPr lang="en-US" sz="1200" dirty="0">
                <a:solidFill>
                  <a:srgbClr val="64748B"/>
                </a:solidFill>
              </a:rPr>
              <a:t>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SIH26047 - PATIENT CASE-TAKING SOFTWARE - Smart India Hackathon 2026</dc:title>
  <dc:subject>PptxGenJS Presentation</dc:subject>
  <dc:creator>404 The Optimists</dc:creator>
  <cp:lastModifiedBy>404 The Optimists</cp:lastModifiedBy>
  <cp:revision>1</cp:revision>
  <dcterms:created xsi:type="dcterms:W3CDTF">2026-09-17T10:04:50Z</dcterms:created>
  <dcterms:modified xsi:type="dcterms:W3CDTF">2026-09-17T10:04:50Z</dcterms:modified>
</cp:coreProperties>
</file>